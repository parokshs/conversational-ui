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4"/>
    <p:sldMasterId id="2147483703" r:id="rId5"/>
  </p:sldMasterIdLst>
  <p:notesMasterIdLst>
    <p:notesMasterId r:id="rId12"/>
  </p:notesMasterIdLst>
  <p:handoutMasterIdLst>
    <p:handoutMasterId r:id="rId13"/>
  </p:handoutMasterIdLst>
  <p:sldIdLst>
    <p:sldId id="361" r:id="rId6"/>
    <p:sldId id="444" r:id="rId7"/>
    <p:sldId id="445" r:id="rId8"/>
    <p:sldId id="446" r:id="rId9"/>
    <p:sldId id="447" r:id="rId10"/>
    <p:sldId id="443" r:id="rId11"/>
  </p:sldIdLst>
  <p:sldSz cx="12192000" cy="6858000"/>
  <p:notesSz cx="6797675" cy="9926638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Light" panose="02000000000000000000" pitchFamily="2" charset="0"/>
      <p:regular r:id="rId18"/>
      <p:italic r:id="rId19"/>
    </p:embeddedFont>
    <p:embeddedFont>
      <p:font typeface="Roboto Medium" panose="02000000000000000000" pitchFamily="2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oghan McHugh" initials="EM" lastIdx="1" clrIdx="0">
    <p:extLst>
      <p:ext uri="{19B8F6BF-5375-455C-9EA6-DF929625EA0E}">
        <p15:presenceInfo xmlns:p15="http://schemas.microsoft.com/office/powerpoint/2012/main" userId="S-1-5-21-784345893-1380450881-7473742-7158" providerId="AD"/>
      </p:ext>
    </p:extLst>
  </p:cmAuthor>
  <p:cmAuthor id="2" name="Chloe Benfell" initials="CB" lastIdx="1" clrIdx="1">
    <p:extLst>
      <p:ext uri="{19B8F6BF-5375-455C-9EA6-DF929625EA0E}">
        <p15:presenceInfo xmlns:p15="http://schemas.microsoft.com/office/powerpoint/2012/main" userId="S-1-5-21-784345893-1380450881-7473742-71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7D2"/>
    <a:srgbClr val="06CE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outlineViewPr>
    <p:cViewPr>
      <p:scale>
        <a:sx n="33" d="100"/>
        <a:sy n="33" d="100"/>
      </p:scale>
      <p:origin x="0" y="-203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1.fntdata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635DC-7C77-4EDC-877E-93E281EA230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DB527-A84F-4511-8370-005F41A96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616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7EAFC-5287-4976-8725-CD476620A400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AFB08-199B-4F6F-99BE-170171BD94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00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alphaModFix amt="0"/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30000" r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BBD915-3381-4B77-806E-44C758A1CEA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50528F-06C8-4E6F-B3DB-94D11399EB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9740" y="-2407407"/>
            <a:ext cx="11139462" cy="100769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4038092"/>
            <a:ext cx="10363200" cy="1328455"/>
          </a:xfrm>
        </p:spPr>
        <p:txBody>
          <a:bodyPr anchor="ctr" anchorCtr="0">
            <a:normAutofit/>
          </a:bodyPr>
          <a:lstStyle>
            <a:lvl1pPr algn="ctr">
              <a:defRPr sz="5169" b="1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Document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458620"/>
            <a:ext cx="9144000" cy="366712"/>
          </a:xfrm>
        </p:spPr>
        <p:txBody>
          <a:bodyPr>
            <a:noAutofit/>
          </a:bodyPr>
          <a:lstStyle>
            <a:lvl1pPr marL="0" indent="0" algn="ctr">
              <a:buNone/>
              <a:defRPr sz="2708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562722" indent="0" algn="ctr">
              <a:buNone/>
              <a:defRPr sz="2462"/>
            </a:lvl2pPr>
            <a:lvl3pPr marL="1125444" indent="0" algn="ctr">
              <a:buNone/>
              <a:defRPr sz="2215"/>
            </a:lvl3pPr>
            <a:lvl4pPr marL="1688165" indent="0" algn="ctr">
              <a:buNone/>
              <a:defRPr sz="1969"/>
            </a:lvl4pPr>
            <a:lvl5pPr marL="2250887" indent="0" algn="ctr">
              <a:buNone/>
              <a:defRPr sz="1969"/>
            </a:lvl5pPr>
            <a:lvl6pPr marL="2813609" indent="0" algn="ctr">
              <a:buNone/>
              <a:defRPr sz="1969"/>
            </a:lvl6pPr>
            <a:lvl7pPr marL="3376331" indent="0" algn="ctr">
              <a:buNone/>
              <a:defRPr sz="1969"/>
            </a:lvl7pPr>
            <a:lvl8pPr marL="3939052" indent="0" algn="ctr">
              <a:buNone/>
              <a:defRPr sz="1969"/>
            </a:lvl8pPr>
            <a:lvl9pPr marL="4501774" indent="0" algn="ctr">
              <a:buNone/>
              <a:defRPr sz="1969"/>
            </a:lvl9pPr>
          </a:lstStyle>
          <a:p>
            <a:r>
              <a:rPr lang="en-US"/>
              <a:t>DOCUMENT SUB-TITLE (ALL CAPS)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91CC22B-4DD7-49EA-A15D-B181FCDA0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1440" y="1563289"/>
            <a:ext cx="3449122" cy="121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3766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bg>
      <p:bgPr>
        <a:blipFill dpi="0" rotWithShape="1">
          <a:blip>
            <a:alphaModFix amt="0"/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30000" r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D6DD8C-F1DA-4F04-901D-56E376CF8B67}"/>
              </a:ext>
            </a:extLst>
          </p:cNvPr>
          <p:cNvSpPr/>
          <p:nvPr userDrawn="1"/>
        </p:nvSpPr>
        <p:spPr>
          <a:xfrm>
            <a:off x="0" y="5455664"/>
            <a:ext cx="12192000" cy="1402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15">
                <a:ln>
                  <a:noFill/>
                </a:ln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BD915-3381-4B77-806E-44C758A1CEA5}"/>
              </a:ext>
            </a:extLst>
          </p:cNvPr>
          <p:cNvSpPr/>
          <p:nvPr userDrawn="1"/>
        </p:nvSpPr>
        <p:spPr>
          <a:xfrm>
            <a:off x="0" y="0"/>
            <a:ext cx="12192000" cy="54556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50528F-06C8-4E6F-B3DB-94D11399EB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2057" y="-1941827"/>
            <a:ext cx="11139462" cy="100769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CA92CE-1AE8-4F99-8B2B-ECE4D497ACD5}"/>
              </a:ext>
            </a:extLst>
          </p:cNvPr>
          <p:cNvSpPr txBox="1"/>
          <p:nvPr userDrawn="1"/>
        </p:nvSpPr>
        <p:spPr>
          <a:xfrm>
            <a:off x="5296074" y="5833668"/>
            <a:ext cx="6487689" cy="26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GB" sz="1723" b="1" i="0" u="none" strike="noStrike" kern="1200" baseline="300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The Changing Workplace Ltd, 1 Boltro Road, Haywards Heath, West Sussex, RH16 1BY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3E333-889F-431B-B545-5902EE0B5160}"/>
              </a:ext>
            </a:extLst>
          </p:cNvPr>
          <p:cNvSpPr txBox="1"/>
          <p:nvPr userDrawn="1"/>
        </p:nvSpPr>
        <p:spPr>
          <a:xfrm>
            <a:off x="6657920" y="6071907"/>
            <a:ext cx="5125841" cy="26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GB" sz="1723" b="1" i="0" u="none" strike="noStrike" kern="1200" baseline="300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(+44) 1444 441 000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C55AC-0AD2-45C8-95F5-5FD47C789749}"/>
              </a:ext>
            </a:extLst>
          </p:cNvPr>
          <p:cNvSpPr txBox="1"/>
          <p:nvPr userDrawn="1"/>
        </p:nvSpPr>
        <p:spPr>
          <a:xfrm>
            <a:off x="6657920" y="6320477"/>
            <a:ext cx="5125841" cy="26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GB" sz="1723" b="1" i="0" u="none" strike="noStrike" kern="1200" baseline="300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www.changingworkplace.com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11F8C8-1386-4445-BD22-194CFFECB03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742" y="5833670"/>
            <a:ext cx="1924693" cy="67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3070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C9E7CE-A078-46E5-8D29-FCBB6DDA6B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3" y="2065814"/>
            <a:ext cx="10515600" cy="1125857"/>
          </a:xfrm>
        </p:spPr>
        <p:txBody>
          <a:bodyPr anchor="b">
            <a:normAutofit/>
          </a:bodyPr>
          <a:lstStyle>
            <a:lvl1pPr algn="l">
              <a:defRPr sz="3939" b="1"/>
            </a:lvl1pPr>
          </a:lstStyle>
          <a:p>
            <a:r>
              <a:rPr lang="en-US"/>
              <a:t>Section 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3" y="3279027"/>
            <a:ext cx="10515600" cy="1439816"/>
          </a:xfrm>
        </p:spPr>
        <p:txBody>
          <a:bodyPr>
            <a:normAutofit/>
          </a:bodyPr>
          <a:lstStyle>
            <a:lvl1pPr marL="0" indent="0">
              <a:buNone/>
              <a:defRPr sz="1969" baseline="0">
                <a:solidFill>
                  <a:schemeClr val="bg1"/>
                </a:solidFill>
                <a:latin typeface="+mj-lt"/>
              </a:defRPr>
            </a:lvl1pPr>
            <a:lvl2pPr marL="562722" indent="0">
              <a:buNone/>
              <a:defRPr sz="2462">
                <a:solidFill>
                  <a:schemeClr val="tx1">
                    <a:tint val="75000"/>
                  </a:schemeClr>
                </a:solidFill>
              </a:defRPr>
            </a:lvl2pPr>
            <a:lvl3pPr marL="1125444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3pPr>
            <a:lvl4pPr marL="1688165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4pPr>
            <a:lvl5pPr marL="2250887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5pPr>
            <a:lvl6pPr marL="2813609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6pPr>
            <a:lvl7pPr marL="3376331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7pPr>
            <a:lvl8pPr marL="3939052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8pPr>
            <a:lvl9pPr marL="4501774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SUB-HEADING (ALL CAPS)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7450598-144D-485E-9A3B-A60F1BDD3F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36670" y="-1306634"/>
            <a:ext cx="11139462" cy="1007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3860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- Numbers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/>
          <p:cNvSpPr>
            <a:spLocks noGrp="1"/>
          </p:cNvSpPr>
          <p:nvPr>
            <p:ph sz="half" idx="1"/>
          </p:nvPr>
        </p:nvSpPr>
        <p:spPr>
          <a:xfrm>
            <a:off x="769036" y="1270000"/>
            <a:ext cx="10653931" cy="5040630"/>
          </a:xfrm>
        </p:spPr>
        <p:txBody>
          <a:bodyPr anchor="t" anchorCtr="0"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723"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800182" indent="-342934">
              <a:buClr>
                <a:schemeClr val="tx1"/>
              </a:buClr>
              <a:buFont typeface="+mj-lt"/>
              <a:buAutoNum type="arabicPeriod"/>
              <a:defRPr sz="1477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257426" indent="-342934">
              <a:buClr>
                <a:schemeClr val="tx1"/>
              </a:buClr>
              <a:buFont typeface="+mj-lt"/>
              <a:buAutoNum type="arabicPeriod"/>
              <a:defRPr sz="1477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714672" indent="-342934">
              <a:buClr>
                <a:schemeClr val="tx1"/>
              </a:buClr>
              <a:buFont typeface="+mj-lt"/>
              <a:buAutoNum type="arabicPeriod"/>
              <a:defRPr sz="1354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2171916" indent="-342934">
              <a:buClr>
                <a:schemeClr val="tx1"/>
              </a:buClr>
              <a:buFont typeface="+mj-lt"/>
              <a:buAutoNum type="arabicPeriod"/>
              <a:defRPr sz="1354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2"/>
          </p:nvPr>
        </p:nvSpPr>
        <p:spPr>
          <a:xfrm>
            <a:off x="7690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29/07/2026</a:t>
            </a:fld>
            <a:endParaRPr lang="en-GB"/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14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6728FD4-BEE1-4EDE-BE82-DEE658D7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91" y="191152"/>
            <a:ext cx="10653931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97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4" orient="horz" pos="2500" userDrawn="1">
          <p15:clr>
            <a:srgbClr val="FBAE40"/>
          </p15:clr>
        </p15:guide>
        <p15:guide id="10" orient="horz" pos="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- Bullets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7690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29/07/2026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14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769037" y="1270000"/>
            <a:ext cx="10653931" cy="5040630"/>
          </a:xfrm>
          <a:prstGeom prst="rect">
            <a:avLst/>
          </a:prstGeom>
        </p:spPr>
        <p:txBody>
          <a:bodyPr vert="horz" lIns="91440" tIns="360000" rIns="91440" bIns="360000" rtlCol="0" anchor="t">
            <a:normAutofit/>
          </a:bodyPr>
          <a:lstStyle>
            <a:lvl1pPr>
              <a:defRPr sz="1723"/>
            </a:lvl1pPr>
            <a:lvl2pPr>
              <a:defRPr sz="1477"/>
            </a:lvl2pPr>
            <a:lvl3pPr>
              <a:defRPr sz="1477"/>
            </a:lvl3pPr>
            <a:lvl4pPr>
              <a:defRPr sz="1354"/>
            </a:lvl4pPr>
            <a:lvl5pPr>
              <a:defRPr sz="1354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41CADAC-BB31-44D9-B3EB-F59AD4A7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91" y="191152"/>
            <a:ext cx="10653931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21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- Bullets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7690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29/07/2026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14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769037" y="1270000"/>
            <a:ext cx="10653931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>
              <a:spcBef>
                <a:spcPts val="1477"/>
              </a:spcBef>
              <a:defRPr sz="1723"/>
            </a:lvl1pPr>
            <a:lvl2pPr marL="844083" indent="-281361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77"/>
            </a:lvl2pPr>
            <a:lvl3pPr>
              <a:spcBef>
                <a:spcPts val="0"/>
              </a:spcBef>
              <a:defRPr sz="1477"/>
            </a:lvl3pPr>
            <a:lvl4pPr>
              <a:spcBef>
                <a:spcPts val="0"/>
              </a:spcBef>
              <a:defRPr sz="1354"/>
            </a:lvl4pPr>
            <a:lvl5pPr>
              <a:spcBef>
                <a:spcPts val="0"/>
              </a:spcBef>
              <a:defRPr sz="1354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EFD6DF6-CF6B-4FFC-A942-7E21A4323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91" y="191152"/>
            <a:ext cx="10653931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45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7690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29/07/2026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14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769037" y="1270000"/>
            <a:ext cx="4878884" cy="5040630"/>
          </a:xfrm>
          <a:prstGeom prst="rect">
            <a:avLst/>
          </a:prstGeom>
        </p:spPr>
        <p:txBody>
          <a:bodyPr vert="horz" lIns="91440" tIns="360000" rIns="91440" bIns="360000" rtlCol="0" anchor="t">
            <a:normAutofit/>
          </a:bodyPr>
          <a:lstStyle>
            <a:lvl1pPr marL="422041" indent="-422041">
              <a:buFont typeface="Wingdings" panose="05000000000000000000" pitchFamily="2" charset="2"/>
              <a:buChar char="§"/>
              <a:defRPr sz="1723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 sz="1477"/>
            </a:lvl2pPr>
            <a:lvl3pPr>
              <a:defRPr sz="1477"/>
            </a:lvl3pPr>
            <a:lvl4pPr>
              <a:defRPr sz="1354"/>
            </a:lvl4pPr>
            <a:lvl5pPr>
              <a:defRPr sz="1354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0"/>
          </p:nvPr>
        </p:nvSpPr>
        <p:spPr>
          <a:xfrm>
            <a:off x="6544082" y="1270000"/>
            <a:ext cx="4878885" cy="5040630"/>
          </a:xfrm>
          <a:prstGeom prst="rect">
            <a:avLst/>
          </a:prstGeom>
        </p:spPr>
        <p:txBody>
          <a:bodyPr vert="horz" lIns="91440" tIns="360000" rIns="91440" bIns="360000" rtlCol="0" anchor="t">
            <a:normAutofit/>
          </a:bodyPr>
          <a:lstStyle>
            <a:lvl1pPr marL="422041" indent="-422041">
              <a:buFont typeface="Wingdings" panose="05000000000000000000" pitchFamily="2" charset="2"/>
              <a:buChar char="§"/>
              <a:defRPr sz="1723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 sz="1477"/>
            </a:lvl2pPr>
            <a:lvl3pPr>
              <a:defRPr sz="1477"/>
            </a:lvl3pPr>
            <a:lvl4pPr>
              <a:defRPr sz="1354"/>
            </a:lvl4pPr>
            <a:lvl5pPr>
              <a:defRPr sz="1354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003BD65-CAC0-450F-92A8-F7B7B30AB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91" y="191152"/>
            <a:ext cx="10653931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13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6096005" y="1270000"/>
            <a:ext cx="6095995" cy="5588000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7690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29/07/2026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14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bg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769037" y="1270000"/>
            <a:ext cx="4454768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562722" indent="-562722">
              <a:buClr>
                <a:schemeClr val="tx1"/>
              </a:buClr>
              <a:buFont typeface="+mj-lt"/>
              <a:buAutoNum type="arabicPeriod"/>
              <a:defRPr sz="1723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984763" indent="-422041">
              <a:buClr>
                <a:schemeClr val="tx1"/>
              </a:buClr>
              <a:buFont typeface="+mj-lt"/>
              <a:buAutoNum type="alphaLcPeriod"/>
              <a:defRPr sz="1477"/>
            </a:lvl2pPr>
            <a:lvl3pPr marL="1547485" indent="-422041">
              <a:buFont typeface="+mj-lt"/>
              <a:buAutoNum type="romanLcPeriod"/>
              <a:defRPr sz="1477"/>
            </a:lvl3pPr>
            <a:lvl4pPr marL="2110207" indent="-422041">
              <a:buFont typeface="+mj-lt"/>
              <a:buAutoNum type="romanLcPeriod"/>
              <a:defRPr sz="1354"/>
            </a:lvl4pPr>
            <a:lvl5pPr marL="2672928" indent="-422041">
              <a:buFont typeface="+mj-lt"/>
              <a:buAutoNum type="romanLcPeriod"/>
              <a:defRPr sz="1354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D42D41B-26F6-44E4-9928-87DC1275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91" y="191152"/>
            <a:ext cx="10653931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18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6096005" y="1270000"/>
            <a:ext cx="6095995" cy="5588000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7690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29/07/2026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14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bg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769037" y="1270000"/>
            <a:ext cx="4454768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0" indent="0">
              <a:spcBef>
                <a:spcPts val="2215"/>
              </a:spcBef>
              <a:buNone/>
              <a:defRPr sz="1723" b="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984763" indent="-422041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77">
                <a:latin typeface="+mn-lt"/>
              </a:defRPr>
            </a:lvl2pPr>
            <a:lvl3pPr marL="1547485" indent="-422041">
              <a:spcBef>
                <a:spcPts val="0"/>
              </a:spcBef>
              <a:buFont typeface="Roboto Light" panose="02000000000000000000" pitchFamily="2" charset="0"/>
              <a:buChar char="-"/>
              <a:defRPr sz="1477">
                <a:latin typeface="+mn-lt"/>
              </a:defRPr>
            </a:lvl3pPr>
            <a:lvl4pPr marL="2039866" indent="-351701">
              <a:spcBef>
                <a:spcPts val="0"/>
              </a:spcBef>
              <a:buFont typeface="Roboto Light" panose="02000000000000000000" pitchFamily="2" charset="0"/>
              <a:buChar char="-"/>
              <a:defRPr sz="1477">
                <a:latin typeface="+mn-lt"/>
              </a:defRPr>
            </a:lvl4pPr>
            <a:lvl5pPr marL="2602588" indent="-351701">
              <a:spcBef>
                <a:spcPts val="0"/>
              </a:spcBef>
              <a:buFont typeface="Roboto Light" panose="02000000000000000000" pitchFamily="2" charset="0"/>
              <a:buChar char="-"/>
              <a:defRPr sz="147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9863A12-A66A-429E-8F66-C5A5F81F1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91" y="191152"/>
            <a:ext cx="10653931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828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&amp;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6971323" y="1989668"/>
            <a:ext cx="4451643" cy="3615266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7690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29/07/2026</a:t>
            </a:fld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14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769037" y="1270000"/>
            <a:ext cx="5326965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422041" indent="-422041">
              <a:buFont typeface="Wingdings" panose="05000000000000000000" pitchFamily="2" charset="2"/>
              <a:buChar char="§"/>
              <a:defRPr sz="1723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 sz="1477"/>
            </a:lvl2pPr>
            <a:lvl3pPr>
              <a:defRPr sz="1477"/>
            </a:lvl3pPr>
            <a:lvl4pPr>
              <a:defRPr sz="1354"/>
            </a:lvl4pPr>
            <a:lvl5pPr>
              <a:defRPr sz="1354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810FA5B-E9A9-4C14-8618-9919211E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91" y="191152"/>
            <a:ext cx="10653931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98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500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8" pos="218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7690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29/07/2026</a:t>
            </a:fld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14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810FA5B-E9A9-4C14-8618-9919211E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91" y="191152"/>
            <a:ext cx="10653931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70E0BF9-227B-47F7-8952-2C8388D471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3790" y="1152605"/>
            <a:ext cx="10653931" cy="5063778"/>
          </a:xfrm>
        </p:spPr>
        <p:txBody>
          <a:bodyPr>
            <a:noAutofit/>
          </a:bodyPr>
          <a:lstStyle>
            <a:lvl1pPr marL="0" marR="0" indent="0" algn="l" defTabSz="11254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sz="1969" b="0">
                <a:latin typeface="+mj-lt"/>
              </a:defRPr>
            </a:lvl1pPr>
            <a:lvl2pPr marL="562722" indent="0">
              <a:buNone/>
              <a:defRPr/>
            </a:lvl2pPr>
            <a:lvl3pPr marL="1125444" indent="0">
              <a:buNone/>
              <a:defRPr/>
            </a:lvl3pPr>
            <a:lvl4pPr marL="1688165" indent="0">
              <a:buNone/>
              <a:defRPr/>
            </a:lvl4pPr>
            <a:lvl5pPr marL="2250887" indent="0">
              <a:buNone/>
              <a:defRPr/>
            </a:lvl5pPr>
          </a:lstStyle>
          <a:p>
            <a:pPr marL="0" marR="0" lvl="0" indent="0" algn="l" defTabSz="112544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GB"/>
              <a:t>Heading </a:t>
            </a:r>
            <a:r>
              <a:rPr lang="en-GB" err="1"/>
              <a:t>afas</a:t>
            </a:r>
            <a:r>
              <a:rPr lang="en-GB"/>
              <a:t>  gas </a:t>
            </a:r>
            <a:r>
              <a:rPr lang="en-GB" err="1"/>
              <a:t>ahHeading</a:t>
            </a:r>
            <a:r>
              <a:rPr lang="en-GB"/>
              <a:t> </a:t>
            </a:r>
            <a:r>
              <a:rPr lang="en-GB" err="1"/>
              <a:t>afas</a:t>
            </a:r>
            <a:r>
              <a:rPr lang="en-GB"/>
              <a:t>  gas ah</a:t>
            </a:r>
          </a:p>
        </p:txBody>
      </p:sp>
    </p:spTree>
    <p:extLst>
      <p:ext uri="{BB962C8B-B14F-4D97-AF65-F5344CB8AC3E}">
        <p14:creationId xmlns:p14="http://schemas.microsoft.com/office/powerpoint/2010/main" val="344232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500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8" pos="218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7690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29/07/2026</a:t>
            </a:fld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14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810FA5B-E9A9-4C14-8618-9919211E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91" y="191152"/>
            <a:ext cx="10653931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60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500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8" pos="218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4.svg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0277" y="365129"/>
            <a:ext cx="106914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0277" y="1981201"/>
            <a:ext cx="10691446" cy="4305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00F2B-F467-4C29-9963-7410829293A6}" type="datetime1">
              <a:rPr lang="en-GB" smtClean="0"/>
              <a:t>29/07/2026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4B3B4-4093-4FBB-A391-3009E9C94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03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18" r:id="rId2"/>
    <p:sldLayoutId id="2147483681" r:id="rId3"/>
  </p:sldLayoutIdLst>
  <p:hf hdr="0" ftr="0" dt="0"/>
  <p:txStyles>
    <p:titleStyle>
      <a:lvl1pPr algn="l" defTabSz="1125444" rtl="0" eaLnBrk="1" latinLnBrk="0" hangingPunct="1">
        <a:lnSpc>
          <a:spcPct val="90000"/>
        </a:lnSpc>
        <a:spcBef>
          <a:spcPct val="0"/>
        </a:spcBef>
        <a:buNone/>
        <a:defRPr sz="3939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81361" indent="-281361" algn="l" defTabSz="1125444" rtl="0" eaLnBrk="1" latinLnBrk="0" hangingPunct="1">
        <a:lnSpc>
          <a:spcPct val="90000"/>
        </a:lnSpc>
        <a:spcBef>
          <a:spcPts val="1231"/>
        </a:spcBef>
        <a:buClr>
          <a:schemeClr val="accent1"/>
        </a:buClr>
        <a:buFont typeface="Wingdings" panose="05000000000000000000" pitchFamily="2" charset="2"/>
        <a:buChar char="§"/>
        <a:defRPr sz="1723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844083" indent="-281361" algn="l" defTabSz="1125444" rtl="0" eaLnBrk="1" latinLnBrk="0" hangingPunct="1">
        <a:lnSpc>
          <a:spcPct val="90000"/>
        </a:lnSpc>
        <a:spcBef>
          <a:spcPts val="615"/>
        </a:spcBef>
        <a:buClr>
          <a:schemeClr val="tx1"/>
        </a:buClr>
        <a:buFont typeface="Roboto Light" panose="02000000000000000000" pitchFamily="2" charset="0"/>
        <a:buChar char="-"/>
        <a:defRPr sz="1477" kern="1200">
          <a:solidFill>
            <a:schemeClr val="tx1"/>
          </a:solidFill>
          <a:latin typeface="+mn-lt"/>
          <a:ea typeface="+mn-ea"/>
          <a:cs typeface="+mn-cs"/>
        </a:defRPr>
      </a:lvl2pPr>
      <a:lvl3pPr marL="1406804" indent="-281361" algn="l" defTabSz="1125444" rtl="0" eaLnBrk="1" latinLnBrk="0" hangingPunct="1">
        <a:lnSpc>
          <a:spcPct val="90000"/>
        </a:lnSpc>
        <a:spcBef>
          <a:spcPts val="615"/>
        </a:spcBef>
        <a:buClr>
          <a:schemeClr val="tx1"/>
        </a:buClr>
        <a:buFont typeface="Roboto Light" panose="02000000000000000000" pitchFamily="2" charset="0"/>
        <a:buChar char="-"/>
        <a:defRPr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969526" indent="-281361" algn="l" defTabSz="1125444" rtl="0" eaLnBrk="1" latinLnBrk="0" hangingPunct="1">
        <a:lnSpc>
          <a:spcPct val="90000"/>
        </a:lnSpc>
        <a:spcBef>
          <a:spcPts val="615"/>
        </a:spcBef>
        <a:buClr>
          <a:schemeClr val="tx1"/>
        </a:buClr>
        <a:buFont typeface="Roboto Light" panose="02000000000000000000" pitchFamily="2" charset="0"/>
        <a:buChar char="-"/>
        <a:defRPr sz="1354" kern="1200">
          <a:solidFill>
            <a:schemeClr val="tx1"/>
          </a:solidFill>
          <a:latin typeface="+mn-lt"/>
          <a:ea typeface="+mn-ea"/>
          <a:cs typeface="+mn-cs"/>
        </a:defRPr>
      </a:lvl4pPr>
      <a:lvl5pPr marL="2532248" indent="-281361" algn="l" defTabSz="1125444" rtl="0" eaLnBrk="1" latinLnBrk="0" hangingPunct="1">
        <a:lnSpc>
          <a:spcPct val="90000"/>
        </a:lnSpc>
        <a:spcBef>
          <a:spcPts val="615"/>
        </a:spcBef>
        <a:buClr>
          <a:schemeClr val="tx1"/>
        </a:buClr>
        <a:buFont typeface="Roboto Light" panose="02000000000000000000" pitchFamily="2" charset="0"/>
        <a:buChar char="-"/>
        <a:defRPr sz="1354" kern="1200">
          <a:solidFill>
            <a:schemeClr val="tx1"/>
          </a:solidFill>
          <a:latin typeface="+mn-lt"/>
          <a:ea typeface="+mn-ea"/>
          <a:cs typeface="+mn-cs"/>
        </a:defRPr>
      </a:lvl5pPr>
      <a:lvl6pPr marL="3094970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BA4FFF-F8DA-4A29-9B65-F1746317D796}"/>
              </a:ext>
            </a:extLst>
          </p:cNvPr>
          <p:cNvSpPr/>
          <p:nvPr userDrawn="1"/>
        </p:nvSpPr>
        <p:spPr>
          <a:xfrm>
            <a:off x="0" y="0"/>
            <a:ext cx="12192000" cy="937697"/>
          </a:xfrm>
          <a:prstGeom prst="rect">
            <a:avLst/>
          </a:prstGeom>
          <a:solidFill>
            <a:srgbClr val="17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3791" y="191152"/>
            <a:ext cx="10653931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037" y="1270000"/>
            <a:ext cx="10653931" cy="5040630"/>
          </a:xfrm>
          <a:prstGeom prst="rect">
            <a:avLst/>
          </a:prstGeom>
        </p:spPr>
        <p:txBody>
          <a:bodyPr vert="horz" lIns="91440" tIns="360000" rIns="91440" bIns="360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90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7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29/07/2026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1435" y="6310630"/>
            <a:ext cx="2881531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7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F607E8-3AD8-4761-A539-4C500EF2C84D}"/>
              </a:ext>
            </a:extLst>
          </p:cNvPr>
          <p:cNvSpPr/>
          <p:nvPr userDrawn="1"/>
        </p:nvSpPr>
        <p:spPr>
          <a:xfrm>
            <a:off x="101551" y="376504"/>
            <a:ext cx="12192000" cy="937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C959611-4FE0-4C4B-AC53-40A2E2FC9F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51394" y="-559124"/>
            <a:ext cx="3309280" cy="299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7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4" r:id="rId3"/>
    <p:sldLayoutId id="2147483715" r:id="rId4"/>
    <p:sldLayoutId id="2147483709" r:id="rId5"/>
    <p:sldLayoutId id="2147483708" r:id="rId6"/>
    <p:sldLayoutId id="2147483712" r:id="rId7"/>
    <p:sldLayoutId id="2147483716" r:id="rId8"/>
    <p:sldLayoutId id="2147483717" r:id="rId9"/>
  </p:sldLayoutIdLst>
  <p:txStyles>
    <p:titleStyle>
      <a:lvl1pPr algn="l" defTabSz="1125444" rtl="0" eaLnBrk="1" latinLnBrk="0" hangingPunct="1">
        <a:lnSpc>
          <a:spcPct val="90000"/>
        </a:lnSpc>
        <a:spcBef>
          <a:spcPct val="0"/>
        </a:spcBef>
        <a:buNone/>
        <a:defRPr sz="2708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422041" indent="-422041" algn="l" defTabSz="1125444" rtl="0" eaLnBrk="1" latinLnBrk="0" hangingPunct="1">
        <a:lnSpc>
          <a:spcPct val="90000"/>
        </a:lnSpc>
        <a:spcBef>
          <a:spcPts val="1477"/>
        </a:spcBef>
        <a:buClr>
          <a:schemeClr val="accent1"/>
        </a:buClr>
        <a:buFont typeface="Wingdings" panose="05000000000000000000" pitchFamily="2" charset="2"/>
        <a:buChar char="§"/>
        <a:defRPr sz="1723" b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  <a:lvl2pPr marL="844083" indent="-281361" algn="l" defTabSz="1125444" rtl="0" eaLnBrk="1" latinLnBrk="0" hangingPunct="1">
        <a:lnSpc>
          <a:spcPct val="90000"/>
        </a:lnSpc>
        <a:spcBef>
          <a:spcPts val="615"/>
        </a:spcBef>
        <a:buClr>
          <a:schemeClr val="tx1"/>
        </a:buClr>
        <a:buFont typeface="Wingdings" panose="05000000000000000000" pitchFamily="2" charset="2"/>
        <a:buChar char="§"/>
        <a:defRPr sz="1477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2pPr>
      <a:lvl3pPr marL="1406804" indent="-281361" algn="l" defTabSz="1125444" rtl="0" eaLnBrk="1" latinLnBrk="0" hangingPunct="1">
        <a:lnSpc>
          <a:spcPct val="90000"/>
        </a:lnSpc>
        <a:spcBef>
          <a:spcPts val="615"/>
        </a:spcBef>
        <a:buClr>
          <a:schemeClr val="tx1"/>
        </a:buClr>
        <a:buFont typeface="Roboto Light" panose="02000000000000000000" pitchFamily="2" charset="0"/>
        <a:buChar char="-"/>
        <a:defRPr sz="1477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3pPr>
      <a:lvl4pPr marL="1969526" indent="-281361" algn="l" defTabSz="1125444" rtl="0" eaLnBrk="1" latinLnBrk="0" hangingPunct="1">
        <a:lnSpc>
          <a:spcPct val="90000"/>
        </a:lnSpc>
        <a:spcBef>
          <a:spcPts val="615"/>
        </a:spcBef>
        <a:buClr>
          <a:schemeClr val="tx1"/>
        </a:buClr>
        <a:buFont typeface="Roboto Light" panose="02000000000000000000" pitchFamily="2" charset="0"/>
        <a:buChar char="-"/>
        <a:defRPr sz="1354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4pPr>
      <a:lvl5pPr marL="2532248" indent="-281361" algn="l" defTabSz="1125444" rtl="0" eaLnBrk="1" latinLnBrk="0" hangingPunct="1">
        <a:lnSpc>
          <a:spcPct val="90000"/>
        </a:lnSpc>
        <a:spcBef>
          <a:spcPts val="615"/>
        </a:spcBef>
        <a:buClr>
          <a:schemeClr val="tx1"/>
        </a:buClr>
        <a:buFont typeface="Roboto Light" panose="02000000000000000000" pitchFamily="2" charset="0"/>
        <a:buChar char="-"/>
        <a:defRPr sz="1354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5pPr>
      <a:lvl6pPr marL="3094970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3" orient="horz" pos="3748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pos="574" userDrawn="1">
          <p15:clr>
            <a:srgbClr val="F26B43"/>
          </p15:clr>
        </p15:guide>
        <p15:guide id="10" pos="71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291975"/>
            <a:ext cx="10363200" cy="1635022"/>
          </a:xfrm>
        </p:spPr>
        <p:txBody>
          <a:bodyPr>
            <a:normAutofit/>
          </a:bodyPr>
          <a:lstStyle/>
          <a:p>
            <a:pPr algn="l"/>
            <a:r>
              <a:rPr lang="en-US" sz="5416" kern="0" spc="-116" dirty="0">
                <a:latin typeface="Arial" pitchFamily="34" charset="0"/>
                <a:ea typeface="Arial" pitchFamily="34" charset="-122"/>
                <a:cs typeface="Arial" pitchFamily="34" charset="-120"/>
              </a:rPr>
              <a:t>Portfolio &amp; Building Analytics</a:t>
            </a:r>
            <a:endParaRPr lang="en-US" sz="5416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vert="horz" lIns="112542" tIns="56271" rIns="112542" bIns="56271" rtlCol="0" anchor="t">
            <a:normAutofit fontScale="70000" lnSpcReduction="20000"/>
          </a:bodyPr>
          <a:lstStyle/>
          <a:p>
            <a:r>
              <a:rPr lang="en-US" sz="2954" kern="0" spc="-116" dirty="0">
                <a:latin typeface="Arial" pitchFamily="34" charset="0"/>
                <a:ea typeface="Arial" pitchFamily="34" charset="-122"/>
                <a:cs typeface="Arial" pitchFamily="34" charset="-120"/>
              </a:rPr>
              <a:t>Americas Real Estate Insights</a:t>
            </a:r>
            <a:endParaRPr lang="en-US" sz="2954" dirty="0"/>
          </a:p>
        </p:txBody>
      </p:sp>
    </p:spTree>
    <p:extLst>
      <p:ext uri="{BB962C8B-B14F-4D97-AF65-F5344CB8AC3E}">
        <p14:creationId xmlns:p14="http://schemas.microsoft.com/office/powerpoint/2010/main" val="403040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5D8A-18FF-87D5-9766-DE5F759F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95F7BB-EC1C-2567-CE18-F65655EC3886}"/>
              </a:ext>
            </a:extLst>
          </p:cNvPr>
          <p:cNvSpPr/>
          <p:nvPr/>
        </p:nvSpPr>
        <p:spPr>
          <a:xfrm>
            <a:off x="479064" y="1079239"/>
            <a:ext cx="5194149" cy="5587609"/>
          </a:xfrm>
          <a:prstGeom prst="roundRect">
            <a:avLst>
              <a:gd name="adj" fmla="val 606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3789E-094F-B341-1136-7D99EA13A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791" y="1715115"/>
            <a:ext cx="4760174" cy="4951733"/>
          </a:xfrm>
        </p:spPr>
        <p:txBody>
          <a:bodyPr>
            <a:normAutofit/>
          </a:bodyPr>
          <a:lstStyle/>
          <a:p>
            <a:pPr marL="351701" indent="-35170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Analyzed 10 buildings across the Americas region</a:t>
            </a:r>
          </a:p>
          <a:p>
            <a:pPr marL="351701" indent="-35170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Building F is a clear outlier at 24% vacancy - well above portfolio average</a:t>
            </a:r>
          </a:p>
          <a:p>
            <a:pPr marL="351701" indent="-35170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Remaining buildings (E, H, C, B, etc.) mostly below 10% vacancy</a:t>
            </a:r>
          </a:p>
          <a:p>
            <a:pPr marL="351701" indent="-35170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Indicates strong space utilization across the region, aside from Building F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59C936-6549-7E39-4EB2-235CC7DC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246" dirty="0"/>
              <a:t>Vacancy Analysis Across Americas Portfolio</a:t>
            </a:r>
            <a:endParaRPr lang="en-US" spc="24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757E95-63C6-F662-6046-4044A3E7CB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40" r="2416" b="2650"/>
          <a:stretch>
            <a:fillRect/>
          </a:stretch>
        </p:blipFill>
        <p:spPr>
          <a:xfrm>
            <a:off x="6096000" y="1135732"/>
            <a:ext cx="5887287" cy="553111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427A11-F1BF-BC96-097C-C5D3FA5C244A}"/>
              </a:ext>
            </a:extLst>
          </p:cNvPr>
          <p:cNvSpPr/>
          <p:nvPr/>
        </p:nvSpPr>
        <p:spPr>
          <a:xfrm>
            <a:off x="855406" y="1366684"/>
            <a:ext cx="4355691" cy="599768"/>
          </a:xfrm>
          <a:prstGeom prst="roundRect">
            <a:avLst>
              <a:gd name="adj" fmla="val 50000"/>
            </a:avLst>
          </a:prstGeom>
          <a:solidFill>
            <a:srgbClr val="1767D2"/>
          </a:solidFill>
          <a:ln>
            <a:solidFill>
              <a:srgbClr val="176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+mj-lt"/>
              </a:rPr>
              <a:t>24% VACANCY – BUILDING F IS THE OUTLIER</a:t>
            </a:r>
          </a:p>
        </p:txBody>
      </p:sp>
    </p:spTree>
    <p:extLst>
      <p:ext uri="{BB962C8B-B14F-4D97-AF65-F5344CB8AC3E}">
        <p14:creationId xmlns:p14="http://schemas.microsoft.com/office/powerpoint/2010/main" val="20539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1E205-ADD0-934E-9E56-6CD3CFB1C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B7F9BB-0450-325A-7380-2C316D4B0B7D}"/>
              </a:ext>
            </a:extLst>
          </p:cNvPr>
          <p:cNvSpPr/>
          <p:nvPr/>
        </p:nvSpPr>
        <p:spPr>
          <a:xfrm>
            <a:off x="479064" y="5053312"/>
            <a:ext cx="5244826" cy="1613536"/>
          </a:xfrm>
          <a:prstGeom prst="roundRect">
            <a:avLst>
              <a:gd name="adj" fmla="val 1276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0ED335-620B-D0F2-A181-4351B9F74562}"/>
              </a:ext>
            </a:extLst>
          </p:cNvPr>
          <p:cNvSpPr/>
          <p:nvPr/>
        </p:nvSpPr>
        <p:spPr>
          <a:xfrm>
            <a:off x="479064" y="1079240"/>
            <a:ext cx="5194149" cy="3786789"/>
          </a:xfrm>
          <a:prstGeom prst="roundRect">
            <a:avLst>
              <a:gd name="adj" fmla="val 606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0D56A-47C7-A6FD-01AC-EFCBE766D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784" y="1813436"/>
            <a:ext cx="4760174" cy="3160745"/>
          </a:xfrm>
        </p:spPr>
        <p:txBody>
          <a:bodyPr>
            <a:normAutofit/>
          </a:bodyPr>
          <a:lstStyle/>
          <a:p>
            <a:pPr marL="351701" indent="-351701">
              <a:buFont typeface="Arial" panose="020B0604020202020204" pitchFamily="34" charset="0"/>
              <a:buChar char="•"/>
            </a:pP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Retail is a clear outlier at 68% alignment (32% misallocated) — nearly 3x the building average</a:t>
            </a:r>
          </a:p>
          <a:p>
            <a:pPr marL="351701" indent="-351701">
              <a:buFont typeface="Arial" panose="020B0604020202020204" pitchFamily="34" charset="0"/>
              <a:buChar char="•"/>
            </a:pP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Human Resources leads with 98% alignment — best in building</a:t>
            </a:r>
          </a:p>
          <a:p>
            <a:pPr marL="351701" indent="-351701">
              <a:buFont typeface="Arial" panose="020B0604020202020204" pitchFamily="34" charset="0"/>
              <a:buChar char="•"/>
            </a:pP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Engineering, Finance, Staff Groups, Operations all Healthy/Excellent (89–96%)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D2FD26-8A6C-05E3-0F2B-02C661F86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246" dirty="0"/>
              <a:t>Actual vs Allocated Space Alignment – Building F</a:t>
            </a:r>
            <a:endParaRPr lang="en-US" spc="246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9FF3F1-D6A3-2DC3-E685-CECEF7D65909}"/>
              </a:ext>
            </a:extLst>
          </p:cNvPr>
          <p:cNvSpPr/>
          <p:nvPr/>
        </p:nvSpPr>
        <p:spPr>
          <a:xfrm>
            <a:off x="855406" y="1238860"/>
            <a:ext cx="4355691" cy="599768"/>
          </a:xfrm>
          <a:prstGeom prst="roundRect">
            <a:avLst>
              <a:gd name="adj" fmla="val 50000"/>
            </a:avLst>
          </a:prstGeom>
          <a:solidFill>
            <a:srgbClr val="1767D2"/>
          </a:solidFill>
          <a:ln>
            <a:solidFill>
              <a:srgbClr val="176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+mj-lt"/>
              </a:rPr>
              <a:t>68% ALIGNED – RETAIL IS THE OUTLIER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FFF25E-E041-7CA4-EAC2-328AA7AB0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087" y="1189700"/>
            <a:ext cx="5519377" cy="519488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051498-C6FC-DA78-BDBA-FB319ED07C10}"/>
              </a:ext>
            </a:extLst>
          </p:cNvPr>
          <p:cNvSpPr txBox="1">
            <a:spLocks/>
          </p:cNvSpPr>
          <p:nvPr/>
        </p:nvSpPr>
        <p:spPr>
          <a:xfrm>
            <a:off x="657089" y="5053312"/>
            <a:ext cx="5244826" cy="1613537"/>
          </a:xfrm>
          <a:prstGeom prst="rect">
            <a:avLst/>
          </a:prstGeom>
        </p:spPr>
        <p:txBody>
          <a:bodyPr vert="horz" lIns="112542" tIns="221538" rIns="112542" bIns="221538" rtlCol="0" anchor="ctr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sz="1400" b="0" kern="1200"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Recommendation</a:t>
            </a:r>
            <a:r>
              <a:rPr lang="en-US" sz="18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</a:p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Investigate Retail's space misalignment — confirm if intentional (project seating, temp moves) or needs reallocation</a:t>
            </a:r>
          </a:p>
        </p:txBody>
      </p:sp>
    </p:spTree>
    <p:extLst>
      <p:ext uri="{BB962C8B-B14F-4D97-AF65-F5344CB8AC3E}">
        <p14:creationId xmlns:p14="http://schemas.microsoft.com/office/powerpoint/2010/main" val="14783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1EEAB-738F-63CC-46B1-913538175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EC4E44-5373-482A-19C0-EBABFC659091}"/>
              </a:ext>
            </a:extLst>
          </p:cNvPr>
          <p:cNvSpPr/>
          <p:nvPr/>
        </p:nvSpPr>
        <p:spPr>
          <a:xfrm>
            <a:off x="303285" y="6131627"/>
            <a:ext cx="11585431" cy="564716"/>
          </a:xfrm>
          <a:prstGeom prst="roundRect">
            <a:avLst>
              <a:gd name="adj" fmla="val 1276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E52E65-FBCF-8C9F-6EB0-B37844A99743}"/>
              </a:ext>
            </a:extLst>
          </p:cNvPr>
          <p:cNvSpPr/>
          <p:nvPr/>
        </p:nvSpPr>
        <p:spPr>
          <a:xfrm>
            <a:off x="6643890" y="1079239"/>
            <a:ext cx="5194149" cy="4830395"/>
          </a:xfrm>
          <a:prstGeom prst="roundRect">
            <a:avLst>
              <a:gd name="adj" fmla="val 606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97887-F158-15CB-AFDA-B1A49419B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0877" y="2325818"/>
            <a:ext cx="4760174" cy="3160745"/>
          </a:xfrm>
        </p:spPr>
        <p:txBody>
          <a:bodyPr>
            <a:normAutofit/>
          </a:bodyPr>
          <a:lstStyle/>
          <a:p>
            <a:pPr marL="351701" indent="-351701"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Floor 1: 72% aligned — office-heavy, low flex capacity</a:t>
            </a:r>
          </a:p>
          <a:p>
            <a:pPr marL="351701" indent="-351701"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Floor 2: 65% aligned — more flex seats, but overflow spills into other orgs' space</a:t>
            </a:r>
          </a:p>
          <a:p>
            <a:pPr marL="351701" indent="-351701"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 cause: insufficient Retail-allocated seats on either floor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65F265-7CD2-E5BB-C05A-E2312173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246" dirty="0"/>
              <a:t>Retail Workspace Allocation by Floor</a:t>
            </a:r>
            <a:endParaRPr lang="en-US" spc="246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50263B-2CD8-CD9C-22B9-18510F46DF9E}"/>
              </a:ext>
            </a:extLst>
          </p:cNvPr>
          <p:cNvSpPr/>
          <p:nvPr/>
        </p:nvSpPr>
        <p:spPr>
          <a:xfrm>
            <a:off x="6879748" y="1320589"/>
            <a:ext cx="2222091" cy="599768"/>
          </a:xfrm>
          <a:prstGeom prst="roundRect">
            <a:avLst>
              <a:gd name="adj" fmla="val 50000"/>
            </a:avLst>
          </a:prstGeom>
          <a:solidFill>
            <a:srgbClr val="1767D2"/>
          </a:solidFill>
          <a:ln>
            <a:solidFill>
              <a:srgbClr val="176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+mj-lt"/>
              </a:rPr>
              <a:t>FLOOR 1 : 72%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082F4B-6600-BAED-3D8B-85FBAC2B57D0}"/>
              </a:ext>
            </a:extLst>
          </p:cNvPr>
          <p:cNvSpPr txBox="1">
            <a:spLocks/>
          </p:cNvSpPr>
          <p:nvPr/>
        </p:nvSpPr>
        <p:spPr>
          <a:xfrm>
            <a:off x="314631" y="6003336"/>
            <a:ext cx="11661060" cy="786709"/>
          </a:xfrm>
          <a:prstGeom prst="rect">
            <a:avLst/>
          </a:prstGeom>
        </p:spPr>
        <p:txBody>
          <a:bodyPr vert="horz" lIns="112542" tIns="221538" rIns="112542" bIns="221538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sz="1400" b="0" kern="1200"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Recommendation</a:t>
            </a:r>
            <a:r>
              <a:rPr lang="en-US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Consolidate Retail, reallocate surplus from under-used orgs (e.g., Engineering), and add flex seating on Floor 1 — then monitor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E5443F-D482-24B0-9B2D-0052C464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91" y="1022555"/>
            <a:ext cx="4677667" cy="494376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E11265-731C-2EED-67C2-DADF4249A4C2}"/>
              </a:ext>
            </a:extLst>
          </p:cNvPr>
          <p:cNvSpPr/>
          <p:nvPr/>
        </p:nvSpPr>
        <p:spPr>
          <a:xfrm>
            <a:off x="9298766" y="1338199"/>
            <a:ext cx="2222091" cy="599768"/>
          </a:xfrm>
          <a:prstGeom prst="roundRect">
            <a:avLst>
              <a:gd name="adj" fmla="val 50000"/>
            </a:avLst>
          </a:prstGeom>
          <a:solidFill>
            <a:srgbClr val="1767D2"/>
          </a:solidFill>
          <a:ln>
            <a:solidFill>
              <a:srgbClr val="176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+mj-lt"/>
              </a:rPr>
              <a:t>FLOOR 2 : 65%</a:t>
            </a:r>
          </a:p>
        </p:txBody>
      </p:sp>
    </p:spTree>
    <p:extLst>
      <p:ext uri="{BB962C8B-B14F-4D97-AF65-F5344CB8AC3E}">
        <p14:creationId xmlns:p14="http://schemas.microsoft.com/office/powerpoint/2010/main" val="3062880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7005-5EB1-0187-3405-ACBE40986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E828F0-1E4C-4ED4-D536-AA8862DDEA3B}"/>
              </a:ext>
            </a:extLst>
          </p:cNvPr>
          <p:cNvSpPr/>
          <p:nvPr/>
        </p:nvSpPr>
        <p:spPr>
          <a:xfrm>
            <a:off x="479064" y="1079239"/>
            <a:ext cx="5194149" cy="5587609"/>
          </a:xfrm>
          <a:prstGeom prst="roundRect">
            <a:avLst>
              <a:gd name="adj" fmla="val 606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CF518-BFC3-CC93-E665-EC1A420EB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791" y="1715115"/>
            <a:ext cx="4760174" cy="4951733"/>
          </a:xfrm>
        </p:spPr>
        <p:txBody>
          <a:bodyPr>
            <a:normAutofit/>
          </a:bodyPr>
          <a:lstStyle/>
          <a:p>
            <a:pPr marL="351701" indent="-351701">
              <a:buFont typeface="Arial" panose="020B0604020202020204" pitchFamily="34" charset="0"/>
              <a:buChar char="•"/>
            </a:pP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Overall occupancy: 38 of 53 workstations (~72%) — 15 vacant desks remain</a:t>
            </a:r>
          </a:p>
          <a:p>
            <a:pPr marL="351701" indent="-351701">
              <a:buFont typeface="Arial" panose="020B0604020202020204" pitchFamily="34" charset="0"/>
              <a:buChar char="•"/>
            </a:pP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Engineering is the biggest under utilizer: only 1 occupied vs. 13 vacant — largest reallocation opportunity</a:t>
            </a:r>
          </a:p>
          <a:p>
            <a:pPr marL="351701" indent="-351701">
              <a:buFont typeface="Arial" panose="020B0604020202020204" pitchFamily="34" charset="0"/>
              <a:buChar char="•"/>
            </a:pP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Travel, Technologies, and Staff Groups are fully utilized (14, 9, 8 occupied, 0 vacant) — no spare capacity</a:t>
            </a:r>
          </a:p>
          <a:p>
            <a:pPr marL="351701" indent="-351701">
              <a:buFont typeface="Arial" panose="020B0604020202020204" pitchFamily="34" charset="0"/>
              <a:buChar char="•"/>
            </a:pP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Retail and Utilities show minimal presence (0 occupied, 1 vacant each) — negligible footprint on this floor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E9CC35-2803-3057-FE38-375F5E86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246" dirty="0"/>
              <a:t>Floor 1 Seating Map – Occupancy by Business Unit</a:t>
            </a:r>
            <a:endParaRPr lang="en-US" spc="246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55E132-22DE-4357-6737-5E4115A68CC8}"/>
              </a:ext>
            </a:extLst>
          </p:cNvPr>
          <p:cNvSpPr/>
          <p:nvPr/>
        </p:nvSpPr>
        <p:spPr>
          <a:xfrm>
            <a:off x="855406" y="1366684"/>
            <a:ext cx="4355691" cy="599768"/>
          </a:xfrm>
          <a:prstGeom prst="roundRect">
            <a:avLst>
              <a:gd name="adj" fmla="val 50000"/>
            </a:avLst>
          </a:prstGeom>
          <a:solidFill>
            <a:srgbClr val="1767D2"/>
          </a:solidFill>
          <a:ln>
            <a:solidFill>
              <a:srgbClr val="176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+mj-lt"/>
              </a:rPr>
              <a:t>38/53 DESKS OCCUPIED (~72%)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120DD-571A-EA50-5181-F8CB770FD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29"/>
          <a:stretch>
            <a:fillRect/>
          </a:stretch>
        </p:blipFill>
        <p:spPr>
          <a:xfrm>
            <a:off x="6312310" y="1093241"/>
            <a:ext cx="5762459" cy="567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63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3D13-4C33-2803-CE4D-915E4539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5D17DF-561F-F5C7-C239-7BC8883F710A}"/>
              </a:ext>
            </a:extLst>
          </p:cNvPr>
          <p:cNvSpPr/>
          <p:nvPr/>
        </p:nvSpPr>
        <p:spPr>
          <a:xfrm>
            <a:off x="479064" y="1079239"/>
            <a:ext cx="11172162" cy="5587609"/>
          </a:xfrm>
          <a:prstGeom prst="roundRect">
            <a:avLst>
              <a:gd name="adj" fmla="val 606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810F-144D-D26C-7BDF-7FF428E24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791" y="1115592"/>
            <a:ext cx="10039181" cy="5551256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Investigate Retail Misalignment</a:t>
            </a:r>
          </a:p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Audit the 32% seat misalignment in Retail — determine if project-based seating or temporary moves are the root cause and formalize reallocation if needed.</a:t>
            </a:r>
          </a:p>
          <a:p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Reallocate Engineering Surplus on Floor 1</a:t>
            </a:r>
          </a:p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13 vacant desks and only 1 occupied, Engineering holds the largest unrealized capacity on Floor 1. Redirect these seats to Retail or other capacity-constrained teams.</a:t>
            </a:r>
          </a:p>
          <a:p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Add Flex Seating on Floor 1</a:t>
            </a:r>
          </a:p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Supplement permanent allocations with touchdown and project/team room seats on Floor 1 to absorb overflow and improve the 72% alignment score. Monitor weekly.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B39CA9-532D-4748-1494-DEEB56F2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400" spc="246" dirty="0"/>
              <a:t>Action Plan — Building F Space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24159988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1">
      <a:dk1>
        <a:srgbClr val="2B2B2B"/>
      </a:dk1>
      <a:lt1>
        <a:sysClr val="window" lastClr="FFFFFF"/>
      </a:lt1>
      <a:dk2>
        <a:srgbClr val="3F3F3F"/>
      </a:dk2>
      <a:lt2>
        <a:srgbClr val="F2F2F2"/>
      </a:lt2>
      <a:accent1>
        <a:srgbClr val="1767D2"/>
      </a:accent1>
      <a:accent2>
        <a:srgbClr val="FF9933"/>
      </a:accent2>
      <a:accent3>
        <a:srgbClr val="D43900"/>
      </a:accent3>
      <a:accent4>
        <a:srgbClr val="FFCC33"/>
      </a:accent4>
      <a:accent5>
        <a:srgbClr val="049A0D"/>
      </a:accent5>
      <a:accent6>
        <a:srgbClr val="9933CC"/>
      </a:accent6>
      <a:hlink>
        <a:srgbClr val="D43900"/>
      </a:hlink>
      <a:folHlink>
        <a:srgbClr val="3F3F3F"/>
      </a:folHlink>
    </a:clrScheme>
    <a:fontScheme name="Custom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P Presentation Template 2019 V2" id="{D0AFA5D4-1B40-4E28-A0B0-7514C8BD9573}" vid="{4F77912F-785B-4553-A7A9-4B089D7E95DC}"/>
    </a:ext>
  </a:extLst>
</a:theme>
</file>

<file path=ppt/theme/theme2.xml><?xml version="1.0" encoding="utf-8"?>
<a:theme xmlns:a="http://schemas.openxmlformats.org/drawingml/2006/main" name="Custom Design">
  <a:themeElements>
    <a:clrScheme name="Custom 4">
      <a:dk1>
        <a:srgbClr val="2B2B2B"/>
      </a:dk1>
      <a:lt1>
        <a:sysClr val="window" lastClr="FFFFFF"/>
      </a:lt1>
      <a:dk2>
        <a:srgbClr val="3F3F3F"/>
      </a:dk2>
      <a:lt2>
        <a:srgbClr val="F2F2F2"/>
      </a:lt2>
      <a:accent1>
        <a:srgbClr val="1767D2"/>
      </a:accent1>
      <a:accent2>
        <a:srgbClr val="FF9933"/>
      </a:accent2>
      <a:accent3>
        <a:srgbClr val="D43900"/>
      </a:accent3>
      <a:accent4>
        <a:srgbClr val="FFCC33"/>
      </a:accent4>
      <a:accent5>
        <a:srgbClr val="049A0D"/>
      </a:accent5>
      <a:accent6>
        <a:srgbClr val="9933CC"/>
      </a:accent6>
      <a:hlink>
        <a:srgbClr val="D43900"/>
      </a:hlink>
      <a:folHlink>
        <a:srgbClr val="3F3F3F"/>
      </a:folHlink>
    </a:clrScheme>
    <a:fontScheme name="Custom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P Presentation Template 2019 V2" id="{D0AFA5D4-1B40-4E28-A0B0-7514C8BD9573}" vid="{216DAB90-81E8-4CAE-80F6-76D5C56DDBC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474C0DDFCB744F82F415B088B01E4B" ma:contentTypeVersion="14" ma:contentTypeDescription="Create a new document." ma:contentTypeScope="" ma:versionID="e5e9462897096f16b0008292cbb975dd">
  <xsd:schema xmlns:xsd="http://www.w3.org/2001/XMLSchema" xmlns:xs="http://www.w3.org/2001/XMLSchema" xmlns:p="http://schemas.microsoft.com/office/2006/metadata/properties" xmlns:ns3="1c75bd5f-743b-40f2-bae2-8e86a640c5ff" xmlns:ns4="153ae615-e700-431c-905c-1e4cee6d6937" targetNamespace="http://schemas.microsoft.com/office/2006/metadata/properties" ma:root="true" ma:fieldsID="590d4ed62c67927dcdef9f8de5167c65" ns3:_="" ns4:_="">
    <xsd:import namespace="1c75bd5f-743b-40f2-bae2-8e86a640c5ff"/>
    <xsd:import namespace="153ae615-e700-431c-905c-1e4cee6d693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75bd5f-743b-40f2-bae2-8e86a640c5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3ae615-e700-431c-905c-1e4cee6d69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5D76EC-F2F5-48B8-95DA-EF0FB4B2183F}">
  <ds:schemaRefs>
    <ds:schemaRef ds:uri="http://purl.org/dc/terms/"/>
    <ds:schemaRef ds:uri="http://www.w3.org/XML/1998/namespace"/>
    <ds:schemaRef ds:uri="153ae615-e700-431c-905c-1e4cee6d6937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1c75bd5f-743b-40f2-bae2-8e86a640c5ff"/>
  </ds:schemaRefs>
</ds:datastoreItem>
</file>

<file path=customXml/itemProps2.xml><?xml version="1.0" encoding="utf-8"?>
<ds:datastoreItem xmlns:ds="http://schemas.openxmlformats.org/officeDocument/2006/customXml" ds:itemID="{1D4F0347-749B-4FE7-BD83-FBDC671D74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8D8A7F-A9E3-46B6-AF87-01F7F1B980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75bd5f-743b-40f2-bae2-8e86a640c5ff"/>
    <ds:schemaRef ds:uri="153ae615-e700-431c-905c-1e4cee6d69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</TotalTime>
  <Words>442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Wingdings</vt:lpstr>
      <vt:lpstr>Roboto Light</vt:lpstr>
      <vt:lpstr>Roboto</vt:lpstr>
      <vt:lpstr>Roboto Medium</vt:lpstr>
      <vt:lpstr>Calibri</vt:lpstr>
      <vt:lpstr>1_Office Theme</vt:lpstr>
      <vt:lpstr>Custom Design</vt:lpstr>
      <vt:lpstr>Portfolio &amp; Building Analytics</vt:lpstr>
      <vt:lpstr>Vacancy Analysis Across Americas Portfolio</vt:lpstr>
      <vt:lpstr>Actual vs Allocated Space Alignment – Building F</vt:lpstr>
      <vt:lpstr>Retail Workspace Allocation by Floor</vt:lpstr>
      <vt:lpstr>Floor 1 Seating Map – Occupancy by Business Unit</vt:lpstr>
      <vt:lpstr>Action Plan — Building F Space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CWP Template Guide</dc:title>
  <dc:creator>Chloe Benfell</dc:creator>
  <cp:lastModifiedBy>Maulik Paghdal</cp:lastModifiedBy>
  <cp:revision>106</cp:revision>
  <cp:lastPrinted>2016-10-20T13:15:12Z</cp:lastPrinted>
  <dcterms:created xsi:type="dcterms:W3CDTF">2019-01-31T13:36:26Z</dcterms:created>
  <dcterms:modified xsi:type="dcterms:W3CDTF">2026-07-29T11:57:26Z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0x01010028474C0DDFCB744F82F415B088B01E4B</vt:lpwstr>
  </property>
  <property fmtid="{D5CDD505-2E9C-101B-9397-08002B2CF9AE}" pid="3" name="_dlc_DocIdItemGuid">
    <vt:lpwstr>f10d3643-9e5a-465d-a6d6-926476caee6d</vt:lpwstr>
  </property>
</Properties>
</file>