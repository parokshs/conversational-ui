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8" r:id="rId4"/>
    <p:sldMasterId id="2147483703" r:id="rId5"/>
    <p:sldMasterId id="2147483745" r:id="rId6"/>
  </p:sldMasterIdLst>
  <p:notesMasterIdLst>
    <p:notesMasterId r:id="rId13"/>
  </p:notesMasterIdLst>
  <p:handoutMasterIdLst>
    <p:handoutMasterId r:id="rId14"/>
  </p:handoutMasterIdLst>
  <p:sldIdLst>
    <p:sldId id="361" r:id="rId7"/>
    <p:sldId id="444" r:id="rId8"/>
    <p:sldId id="434" r:id="rId9"/>
    <p:sldId id="438" r:id="rId10"/>
    <p:sldId id="441" r:id="rId11"/>
    <p:sldId id="443" r:id="rId12"/>
  </p:sldIdLst>
  <p:sldSz cx="9906000" cy="6858000" type="A4"/>
  <p:notesSz cx="6797675" cy="9926638"/>
  <p:embeddedFontLst>
    <p:embeddedFont>
      <p:font typeface="Roboto" panose="02000000000000000000" pitchFamily="2" charset="0"/>
      <p:regular r:id="rId15"/>
      <p:bold r:id="rId16"/>
      <p:italic r:id="rId17"/>
      <p:boldItalic r:id="rId18"/>
    </p:embeddedFont>
    <p:embeddedFont>
      <p:font typeface="Roboto Light" panose="02000000000000000000" pitchFamily="2" charset="0"/>
      <p:regular r:id="rId19"/>
      <p:italic r:id="rId20"/>
    </p:embeddedFont>
    <p:embeddedFont>
      <p:font typeface="Roboto Medium" panose="02000000000000000000" pitchFamily="2" charset="0"/>
      <p:regular r:id="rId21"/>
      <p:italic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oghan McHugh" initials="EM" lastIdx="1" clrIdx="0">
    <p:extLst>
      <p:ext uri="{19B8F6BF-5375-455C-9EA6-DF929625EA0E}">
        <p15:presenceInfo xmlns:p15="http://schemas.microsoft.com/office/powerpoint/2012/main" userId="S-1-5-21-784345893-1380450881-7473742-7158" providerId="AD"/>
      </p:ext>
    </p:extLst>
  </p:cmAuthor>
  <p:cmAuthor id="2" name="Chloe Benfell" initials="CB" lastIdx="1" clrIdx="1">
    <p:extLst>
      <p:ext uri="{19B8F6BF-5375-455C-9EA6-DF929625EA0E}">
        <p15:presenceInfo xmlns:p15="http://schemas.microsoft.com/office/powerpoint/2012/main" userId="S-1-5-21-784345893-1380450881-7473742-717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67D2"/>
    <a:srgbClr val="06CE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41" autoAdjust="0"/>
  </p:normalViewPr>
  <p:slideViewPr>
    <p:cSldViewPr snapToGrid="0">
      <p:cViewPr varScale="1">
        <p:scale>
          <a:sx n="78" d="100"/>
          <a:sy n="78" d="100"/>
        </p:scale>
        <p:origin x="1406" y="77"/>
      </p:cViewPr>
      <p:guideLst/>
    </p:cSldViewPr>
  </p:slideViewPr>
  <p:outlineViewPr>
    <p:cViewPr>
      <p:scale>
        <a:sx n="33" d="100"/>
        <a:sy n="33" d="100"/>
      </p:scale>
      <p:origin x="0" y="-203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7.fntdata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4.xml"/><Relationship Id="rId19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1635DC-7C77-4EDC-877E-93E281EA2302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BDB527-A84F-4511-8370-005F41A960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96164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C7EAFC-5287-4976-8725-CD476620A400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AAFB08-199B-4F6F-99BE-170171BD94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9009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>
            <a:alphaModFix amt="0"/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30000" r="-3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7BBD915-3381-4B77-806E-44C758A1CEA5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950528F-06C8-4E6F-B3DB-94D11399EB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6662" y="-2407407"/>
            <a:ext cx="9050813" cy="1007698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42950" y="4038089"/>
            <a:ext cx="8420100" cy="1328455"/>
          </a:xfrm>
        </p:spPr>
        <p:txBody>
          <a:bodyPr anchor="ctr" anchorCtr="0">
            <a:normAutofit/>
          </a:bodyPr>
          <a:lstStyle>
            <a:lvl1pPr algn="ctr">
              <a:defRPr sz="4200" b="1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Document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238250" y="5458620"/>
            <a:ext cx="7429500" cy="366712"/>
          </a:xfrm>
        </p:spPr>
        <p:txBody>
          <a:bodyPr>
            <a:noAutofit/>
          </a:bodyPr>
          <a:lstStyle>
            <a:lvl1pPr marL="0" indent="0" algn="ctr">
              <a:buNone/>
              <a:defRPr sz="22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DOCUMENT SUB-TITLE (ALL CAPS)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91CC22B-4DD7-49EA-A15D-B181FCDA0C1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51795" y="1563289"/>
            <a:ext cx="2802412" cy="121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73766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">
    <p:bg>
      <p:bgPr>
        <a:blipFill dpi="0" rotWithShape="1">
          <a:blip>
            <a:alphaModFix amt="0"/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30000" r="-3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7D6DD8C-F1DA-4F04-901D-56E376CF8B67}"/>
              </a:ext>
            </a:extLst>
          </p:cNvPr>
          <p:cNvSpPr/>
          <p:nvPr userDrawn="1"/>
        </p:nvSpPr>
        <p:spPr>
          <a:xfrm>
            <a:off x="0" y="5455664"/>
            <a:ext cx="9906000" cy="14023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ln>
                  <a:noFill/>
                </a:ln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BBD915-3381-4B77-806E-44C758A1CEA5}"/>
              </a:ext>
            </a:extLst>
          </p:cNvPr>
          <p:cNvSpPr/>
          <p:nvPr userDrawn="1"/>
        </p:nvSpPr>
        <p:spPr>
          <a:xfrm>
            <a:off x="0" y="0"/>
            <a:ext cx="9906000" cy="54556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950528F-06C8-4E6F-B3DB-94D11399EB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18546" y="-1941827"/>
            <a:ext cx="9050813" cy="100769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0CA92CE-1AE8-4F99-8B2B-ECE4D497ACD5}"/>
              </a:ext>
            </a:extLst>
          </p:cNvPr>
          <p:cNvSpPr txBox="1"/>
          <p:nvPr userDrawn="1"/>
        </p:nvSpPr>
        <p:spPr>
          <a:xfrm>
            <a:off x="4303059" y="5833667"/>
            <a:ext cx="5271247" cy="235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0"/>
            <a:r>
              <a:rPr lang="en-GB" sz="1400" b="1" i="0" u="none" strike="noStrike" kern="1200" baseline="30000">
                <a:solidFill>
                  <a:schemeClr val="tx1"/>
                </a:solidFill>
                <a:latin typeface="+mj-lt"/>
                <a:ea typeface="+mn-ea"/>
                <a:cs typeface="+mn-cs"/>
              </a:rPr>
              <a:t>The Changing Workplace Ltd, 1 Boltro Road, Haywards Heath, West Sussex, RH16 1BY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63E333-889F-431B-B545-5902EE0B5160}"/>
              </a:ext>
            </a:extLst>
          </p:cNvPr>
          <p:cNvSpPr txBox="1"/>
          <p:nvPr userDrawn="1"/>
        </p:nvSpPr>
        <p:spPr>
          <a:xfrm>
            <a:off x="5409560" y="6071907"/>
            <a:ext cx="4164746" cy="235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0"/>
            <a:r>
              <a:rPr lang="en-GB" sz="1400" b="1" i="0" u="none" strike="noStrike" kern="1200" baseline="30000">
                <a:solidFill>
                  <a:schemeClr val="tx1"/>
                </a:solidFill>
                <a:latin typeface="+mj-lt"/>
                <a:ea typeface="+mn-ea"/>
                <a:cs typeface="+mn-cs"/>
              </a:rPr>
              <a:t>(+44) 1444 441 000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EC55AC-0AD2-45C8-95F5-5FD47C789749}"/>
              </a:ext>
            </a:extLst>
          </p:cNvPr>
          <p:cNvSpPr txBox="1"/>
          <p:nvPr userDrawn="1"/>
        </p:nvSpPr>
        <p:spPr>
          <a:xfrm>
            <a:off x="5409560" y="6320477"/>
            <a:ext cx="4164746" cy="235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0"/>
            <a:r>
              <a:rPr lang="en-GB" sz="1400" b="1" i="0" u="none" strike="noStrike" kern="1200" baseline="30000">
                <a:solidFill>
                  <a:schemeClr val="tx1"/>
                </a:solidFill>
                <a:latin typeface="+mj-lt"/>
                <a:ea typeface="+mn-ea"/>
                <a:cs typeface="+mn-cs"/>
              </a:rPr>
              <a:t>www.changingworkplace.com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811F8C8-1386-4445-BD22-194CFFECB03B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6351" y="5833667"/>
            <a:ext cx="1563813" cy="67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63070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DC9E7CE-A078-46E5-8D29-FCBB6DDA6B52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5879" y="2065811"/>
            <a:ext cx="8543925" cy="1125857"/>
          </a:xfrm>
        </p:spPr>
        <p:txBody>
          <a:bodyPr anchor="b">
            <a:normAutofit/>
          </a:bodyPr>
          <a:lstStyle>
            <a:lvl1pPr algn="l">
              <a:defRPr sz="3200" b="1"/>
            </a:lvl1pPr>
          </a:lstStyle>
          <a:p>
            <a:r>
              <a:rPr lang="en-US"/>
              <a:t>Section Heading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75879" y="3279027"/>
            <a:ext cx="8543925" cy="1439816"/>
          </a:xfrm>
        </p:spPr>
        <p:txBody>
          <a:bodyPr>
            <a:normAutofit/>
          </a:bodyPr>
          <a:lstStyle>
            <a:lvl1pPr marL="0" indent="0">
              <a:buNone/>
              <a:defRPr sz="16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SECTION SUB-HEADING (ALL CAPS)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7450598-144D-485E-9A3B-A60F1BDD3F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23543" y="-1306634"/>
            <a:ext cx="9050813" cy="1007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13860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lide - Numbers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2"/>
          <p:cNvSpPr>
            <a:spLocks noGrp="1"/>
          </p:cNvSpPr>
          <p:nvPr>
            <p:ph sz="half" idx="1"/>
          </p:nvPr>
        </p:nvSpPr>
        <p:spPr>
          <a:xfrm>
            <a:off x="624840" y="1270000"/>
            <a:ext cx="8656319" cy="5040630"/>
          </a:xfrm>
        </p:spPr>
        <p:txBody>
          <a:bodyPr anchor="t" anchorCtr="0">
            <a:normAutofit/>
          </a:bodyPr>
          <a:lstStyle>
            <a:lvl1pPr marL="0" indent="0">
              <a:buFont typeface="Wingdings" panose="05000000000000000000" pitchFamily="2" charset="2"/>
              <a:buNone/>
              <a:defRPr sz="1400"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defRPr>
            </a:lvl1pPr>
            <a:lvl2pPr marL="650132" indent="-278627">
              <a:buClr>
                <a:schemeClr val="tx1"/>
              </a:buClr>
              <a:buFont typeface="+mj-lt"/>
              <a:buAutoNum type="arabicPeriod"/>
              <a:defRPr sz="120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2pPr>
            <a:lvl3pPr marL="1021633" indent="-278627">
              <a:buClr>
                <a:schemeClr val="tx1"/>
              </a:buClr>
              <a:buFont typeface="+mj-lt"/>
              <a:buAutoNum type="arabicPeriod"/>
              <a:defRPr sz="120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3pPr>
            <a:lvl4pPr marL="1393136" indent="-278627">
              <a:buClr>
                <a:schemeClr val="tx1"/>
              </a:buClr>
              <a:buFont typeface="+mj-lt"/>
              <a:buAutoNum type="arabicPeriod"/>
              <a:defRPr sz="110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4pPr>
            <a:lvl5pPr marL="1764638" indent="-278627">
              <a:buClr>
                <a:schemeClr val="tx1"/>
              </a:buClr>
              <a:buFont typeface="+mj-lt"/>
              <a:buAutoNum type="arabicPeriod"/>
              <a:defRPr sz="110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2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2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A6728FD4-BEE1-4EDE-BE82-DEE658D77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59715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4" orient="horz" pos="2500">
          <p15:clr>
            <a:srgbClr val="FBAE40"/>
          </p15:clr>
        </p15:guide>
        <p15:guide id="10" orient="horz" pos="41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lide - Bullets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4841" y="1270000"/>
            <a:ext cx="8656319" cy="5040630"/>
          </a:xfrm>
          <a:prstGeom prst="rect">
            <a:avLst/>
          </a:prstGeom>
        </p:spPr>
        <p:txBody>
          <a:bodyPr vert="horz" lIns="91440" tIns="360000" rIns="91440" bIns="360000" rtlCol="0" anchor="t"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A41CADAC-BB31-44D9-B3EB-F59AD4A7D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02199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lide - Bullets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4841" y="1270000"/>
            <a:ext cx="8656319" cy="5040630"/>
          </a:xfrm>
          <a:prstGeom prst="rect">
            <a:avLst/>
          </a:prstGeom>
        </p:spPr>
        <p:txBody>
          <a:bodyPr vert="horz" lIns="91440" tIns="180000" rIns="91440" bIns="180000" rtlCol="0" anchor="ctr">
            <a:normAutofit/>
          </a:bodyPr>
          <a:lstStyle>
            <a:lvl1pPr>
              <a:spcBef>
                <a:spcPts val="1200"/>
              </a:spcBef>
              <a:defRPr sz="1400"/>
            </a:lvl1pPr>
            <a:lvl2pPr marL="685800" indent="-228600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1200"/>
            </a:lvl2pPr>
            <a:lvl3pPr>
              <a:spcBef>
                <a:spcPts val="0"/>
              </a:spcBef>
              <a:defRPr sz="1200"/>
            </a:lvl3pPr>
            <a:lvl4pPr>
              <a:spcBef>
                <a:spcPts val="0"/>
              </a:spcBef>
              <a:defRPr sz="1100"/>
            </a:lvl4pPr>
            <a:lvl5pPr>
              <a:spcBef>
                <a:spcPts val="0"/>
              </a:spcBef>
              <a:defRPr sz="11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2EFD6DF6-CF6B-4FFC-A942-7E21A4323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8452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9" name="Text Placeholder 2"/>
          <p:cNvSpPr>
            <a:spLocks noGrp="1"/>
          </p:cNvSpPr>
          <p:nvPr>
            <p:ph idx="1"/>
          </p:nvPr>
        </p:nvSpPr>
        <p:spPr>
          <a:xfrm>
            <a:off x="624841" y="1270000"/>
            <a:ext cx="3964093" cy="5040630"/>
          </a:xfrm>
          <a:prstGeom prst="rect">
            <a:avLst/>
          </a:prstGeom>
        </p:spPr>
        <p:txBody>
          <a:bodyPr vert="horz" lIns="91440" tIns="360000" rIns="91440" bIns="360000" rtlCol="0" anchor="t">
            <a:normAutofit/>
          </a:bodyPr>
          <a:lstStyle>
            <a:lvl1pPr marL="342900" indent="-342900">
              <a:buFont typeface="Wingdings" panose="05000000000000000000" pitchFamily="2" charset="2"/>
              <a:buChar char="§"/>
              <a:defRPr sz="1400"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0"/>
          </p:nvPr>
        </p:nvSpPr>
        <p:spPr>
          <a:xfrm>
            <a:off x="5317067" y="1270000"/>
            <a:ext cx="3964094" cy="5040630"/>
          </a:xfrm>
          <a:prstGeom prst="rect">
            <a:avLst/>
          </a:prstGeom>
        </p:spPr>
        <p:txBody>
          <a:bodyPr vert="horz" lIns="91440" tIns="360000" rIns="91440" bIns="360000" rtlCol="0" anchor="t">
            <a:normAutofit/>
          </a:bodyPr>
          <a:lstStyle>
            <a:lvl1pPr marL="342900" indent="-342900">
              <a:buFont typeface="Wingdings" panose="05000000000000000000" pitchFamily="2" charset="2"/>
              <a:buChar char="§"/>
              <a:defRPr sz="1400"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003BD65-CAC0-450F-92A8-F7B7B30AB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013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4953004" y="1270000"/>
            <a:ext cx="4952996" cy="5588000"/>
          </a:xfrm>
        </p:spPr>
        <p:txBody>
          <a:bodyPr/>
          <a:lstStyle/>
          <a:p>
            <a:endParaRPr lang="en-GB"/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9" name="Text Placeholder 2"/>
          <p:cNvSpPr>
            <a:spLocks noGrp="1"/>
          </p:cNvSpPr>
          <p:nvPr>
            <p:ph idx="1"/>
          </p:nvPr>
        </p:nvSpPr>
        <p:spPr>
          <a:xfrm>
            <a:off x="624841" y="1270000"/>
            <a:ext cx="3619499" cy="5040630"/>
          </a:xfrm>
          <a:prstGeom prst="rect">
            <a:avLst/>
          </a:prstGeom>
        </p:spPr>
        <p:txBody>
          <a:bodyPr vert="horz" lIns="91440" tIns="180000" rIns="91440" bIns="180000" rtlCol="0" anchor="ctr">
            <a:normAutofit/>
          </a:bodyPr>
          <a:lstStyle>
            <a:lvl1pPr marL="457200" indent="-457200">
              <a:buClr>
                <a:schemeClr val="tx1"/>
              </a:buClr>
              <a:buFont typeface="+mj-lt"/>
              <a:buAutoNum type="arabicPeriod"/>
              <a:defRPr sz="1400"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800100" indent="-342900">
              <a:buClr>
                <a:schemeClr val="tx1"/>
              </a:buClr>
              <a:buFont typeface="+mj-lt"/>
              <a:buAutoNum type="alphaLcPeriod"/>
              <a:defRPr sz="1200"/>
            </a:lvl2pPr>
            <a:lvl3pPr marL="1257300" indent="-342900">
              <a:buFont typeface="+mj-lt"/>
              <a:buAutoNum type="romanLcPeriod"/>
              <a:defRPr sz="1200"/>
            </a:lvl3pPr>
            <a:lvl4pPr marL="1714500" indent="-342900">
              <a:buFont typeface="+mj-lt"/>
              <a:buAutoNum type="romanLcPeriod"/>
              <a:defRPr sz="1100"/>
            </a:lvl4pPr>
            <a:lvl5pPr marL="2171700" indent="-342900">
              <a:buFont typeface="+mj-lt"/>
              <a:buAutoNum type="romanLcPeriod"/>
              <a:defRPr sz="11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D42D41B-26F6-44E4-9928-87DC12759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418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4953004" y="1270000"/>
            <a:ext cx="4952996" cy="5588000"/>
          </a:xfrm>
        </p:spPr>
        <p:txBody>
          <a:bodyPr/>
          <a:lstStyle/>
          <a:p>
            <a:endParaRPr lang="en-GB"/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9" name="Text Placeholder 2"/>
          <p:cNvSpPr>
            <a:spLocks noGrp="1"/>
          </p:cNvSpPr>
          <p:nvPr>
            <p:ph idx="1"/>
          </p:nvPr>
        </p:nvSpPr>
        <p:spPr>
          <a:xfrm>
            <a:off x="624841" y="1270000"/>
            <a:ext cx="3619499" cy="5040630"/>
          </a:xfrm>
          <a:prstGeom prst="rect">
            <a:avLst/>
          </a:prstGeom>
        </p:spPr>
        <p:txBody>
          <a:bodyPr vert="horz" lIns="91440" tIns="180000" rIns="91440" bIns="180000" rtlCol="0" anchor="ctr">
            <a:normAutofit/>
          </a:bodyPr>
          <a:lstStyle>
            <a:lvl1pPr marL="0" indent="0">
              <a:spcBef>
                <a:spcPts val="1800"/>
              </a:spcBef>
              <a:buNone/>
              <a:defRPr sz="1400" b="0"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800100" indent="-342900"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>
                <a:latin typeface="+mn-lt"/>
              </a:defRPr>
            </a:lvl2pPr>
            <a:lvl3pPr marL="1257300" indent="-342900">
              <a:spcBef>
                <a:spcPts val="0"/>
              </a:spcBef>
              <a:buFont typeface="Roboto Light" panose="02000000000000000000" pitchFamily="2" charset="0"/>
              <a:buChar char="-"/>
              <a:defRPr sz="1200">
                <a:latin typeface="+mn-lt"/>
              </a:defRPr>
            </a:lvl3pPr>
            <a:lvl4pPr marL="1657350" indent="-285750">
              <a:spcBef>
                <a:spcPts val="0"/>
              </a:spcBef>
              <a:buFont typeface="Roboto Light" panose="02000000000000000000" pitchFamily="2" charset="0"/>
              <a:buChar char="-"/>
              <a:defRPr sz="1200">
                <a:latin typeface="+mn-lt"/>
              </a:defRPr>
            </a:lvl4pPr>
            <a:lvl5pPr marL="2114550" indent="-285750">
              <a:spcBef>
                <a:spcPts val="0"/>
              </a:spcBef>
              <a:buFont typeface="Roboto Light" panose="02000000000000000000" pitchFamily="2" charset="0"/>
              <a:buChar char="-"/>
              <a:defRPr sz="1200"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49863A12-A66A-429E-8F66-C5A5F81F1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7828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&amp; Screensh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5664200" y="1989668"/>
            <a:ext cx="3616960" cy="3615266"/>
          </a:xfrm>
        </p:spPr>
        <p:txBody>
          <a:bodyPr/>
          <a:lstStyle/>
          <a:p>
            <a:endParaRPr lang="en-GB"/>
          </a:p>
        </p:txBody>
      </p:sp>
      <p:sp>
        <p:nvSpPr>
          <p:cNvPr id="14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4841" y="1270000"/>
            <a:ext cx="4328159" cy="5040630"/>
          </a:xfrm>
          <a:prstGeom prst="rect">
            <a:avLst/>
          </a:prstGeom>
        </p:spPr>
        <p:txBody>
          <a:bodyPr vert="horz" lIns="91440" tIns="180000" rIns="91440" bIns="180000" rtlCol="0" anchor="ctr">
            <a:normAutofit/>
          </a:bodyPr>
          <a:lstStyle>
            <a:lvl1pPr marL="342900" indent="-342900">
              <a:buFont typeface="Wingdings" panose="05000000000000000000" pitchFamily="2" charset="2"/>
              <a:buChar char="§"/>
              <a:defRPr sz="1400"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8810FA5B-E9A9-4C14-8618-9919211EF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66981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500">
          <p15:clr>
            <a:srgbClr val="FBAE40"/>
          </p15:clr>
        </p15:guide>
        <p15:guide id="5" pos="3120">
          <p15:clr>
            <a:srgbClr val="FBAE40"/>
          </p15:clr>
        </p15:guide>
        <p15:guide id="8" pos="177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8810FA5B-E9A9-4C14-8618-9919211EF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C70E0BF9-227B-47F7-8952-2C8388D471B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6203" y="1152605"/>
            <a:ext cx="8656319" cy="5063778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sz="1600" b="0"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GB"/>
              <a:t>Heading </a:t>
            </a:r>
            <a:r>
              <a:rPr lang="en-GB" err="1"/>
              <a:t>afas</a:t>
            </a:r>
            <a:r>
              <a:rPr lang="en-GB"/>
              <a:t>  gas </a:t>
            </a:r>
            <a:r>
              <a:rPr lang="en-GB" err="1"/>
              <a:t>ahHeading</a:t>
            </a:r>
            <a:r>
              <a:rPr lang="en-GB"/>
              <a:t> </a:t>
            </a:r>
            <a:r>
              <a:rPr lang="en-GB" err="1"/>
              <a:t>afas</a:t>
            </a:r>
            <a:r>
              <a:rPr lang="en-GB"/>
              <a:t>  gas ah</a:t>
            </a:r>
          </a:p>
        </p:txBody>
      </p:sp>
    </p:spTree>
    <p:extLst>
      <p:ext uri="{BB962C8B-B14F-4D97-AF65-F5344CB8AC3E}">
        <p14:creationId xmlns:p14="http://schemas.microsoft.com/office/powerpoint/2010/main" val="34423201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500">
          <p15:clr>
            <a:srgbClr val="FBAE40"/>
          </p15:clr>
        </p15:guide>
        <p15:guide id="5" pos="3120">
          <p15:clr>
            <a:srgbClr val="FBAE40"/>
          </p15:clr>
        </p15:guide>
        <p15:guide id="8" pos="1775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8810FA5B-E9A9-4C14-8618-9919211EF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5606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500">
          <p15:clr>
            <a:srgbClr val="FBAE40"/>
          </p15:clr>
        </p15:guide>
        <p15:guide id="5" pos="3120">
          <p15:clr>
            <a:srgbClr val="FBAE40"/>
          </p15:clr>
        </p15:guide>
        <p15:guide id="8" pos="1775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95819-2C5B-0763-2E8B-04E6752BC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ADDE25-AF64-C532-16FC-93EB1FB295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A1A39-B8CA-2182-EFF7-2572C798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9A4148-14A8-74BB-71CD-7980CAA2A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4429A-D693-D0D3-F675-C561B12C3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8387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1C74A-299C-3777-518C-993A0A36F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41E0-D46F-9748-1389-DEA9DF288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12E565-61C3-7C0F-BCA1-579B433BB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5A3C1F-1A9B-AC26-34A2-FE3C12AC2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D75B3-0B51-C3FC-BD52-AD7739A5B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32930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CCF8F-FC41-BA54-195B-AB0FDD213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8" y="1709739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ED3621-6A4C-891A-4A9F-8CFAB6721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8" y="4589464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82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82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82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9F9C5B-09A7-AACE-5899-6C43CC7D6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8391A-998C-6522-EB07-BBADB269B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59B3E3-80F3-C318-AE69-CC2389B55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1349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593B0-5543-FD72-265C-601978B64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17A1B-1A5C-C49C-1DCB-A4D85232FE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66F6E-92F7-4DE2-94AA-93F66ECA0E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39B6FA-F1AE-16C1-0F53-BED48027C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03BDA8-F3F8-F242-735E-85C7C2C32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15B592-7087-A77B-3B2B-1D78D9EBE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74358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784EC-9816-8C42-4A2D-296F1A383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46B347-D4D6-CB98-1E64-CCAAE65E5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8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7B7206-5AE9-8437-3DCF-E86B48DD1D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8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AD6CF7-7157-DA71-23AF-44C6E862B8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F685C0-509A-B904-DA26-4520A0B8C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9FFE35-A219-9C26-3E28-8C0B65690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BDAF1-D1A8-865D-87DB-C8FADFFA2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12CC93-F984-AE23-A772-6DF65E0A1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2683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53813-8CBC-6EC2-6472-451315FB3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AF1B0D-A722-7B98-5246-E687C0485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69F1F6-743A-5F5A-56CE-5E37FF4D6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3372C-6CE0-94BA-CEAA-6E70AC14E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405568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E1A100-3ECD-0F08-8FAB-72763E00D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02BD16-0ED5-38A3-DB97-54E7D2D62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9CEB7-379E-AD7A-5F8F-72D05B808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2351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F6907-CF1C-35E1-F97E-1C5D6F257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6CC27-EBD3-4B45-2A3F-4B0A79F64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3E76F3-BCF6-D2FE-2681-301A92CFAB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B94648-A232-E19E-7F27-DF25D939E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7139CB-4739-DC6B-B8D1-5EB4874B7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DC1281-25F7-F770-6D28-94F37807E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57464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CF7B5-78C0-68DA-D0CA-E721D6A18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58C724-76CE-199C-2F48-12B35E1808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BC6708-4A56-2AD6-1973-17D4E4BBB6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39DD7A-904D-9541-50D0-324097228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C1D43E-D8EA-6631-57D2-27CC02B59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DD0AAE-91E6-6A71-0994-F3398C7EE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34769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05169-F474-260D-B705-70A46DF4C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DEF85A-B4ED-FA31-8264-4CE6C242B9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0C1F1-B01A-7A14-5133-211694F27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9AB10-2B24-46A7-518C-CD230CDC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0D1DBB-D9C9-9C89-2BC3-598094A06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75817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79E52E-0060-6B07-F383-113847D2F7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1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929278-A0F1-64D3-5304-A0606E4AFA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7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BCF91E-A3F1-0403-311B-0B302558C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EDA70-C912-8325-0339-221ACF266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3C9B7-156A-E408-499B-DB7FFED30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00291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4953004" y="1270000"/>
            <a:ext cx="4952996" cy="5588000"/>
          </a:xfrm>
        </p:spPr>
        <p:txBody>
          <a:bodyPr/>
          <a:lstStyle/>
          <a:p>
            <a:endParaRPr lang="en-GB"/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9" name="Text Placeholder 2"/>
          <p:cNvSpPr>
            <a:spLocks noGrp="1"/>
          </p:cNvSpPr>
          <p:nvPr>
            <p:ph idx="1"/>
          </p:nvPr>
        </p:nvSpPr>
        <p:spPr>
          <a:xfrm>
            <a:off x="624841" y="1270000"/>
            <a:ext cx="3619499" cy="5040630"/>
          </a:xfrm>
          <a:prstGeom prst="rect">
            <a:avLst/>
          </a:prstGeom>
        </p:spPr>
        <p:txBody>
          <a:bodyPr vert="horz" lIns="91440" tIns="180000" rIns="91440" bIns="180000" rtlCol="0" anchor="ctr">
            <a:normAutofit/>
          </a:bodyPr>
          <a:lstStyle>
            <a:lvl1pPr marL="0" indent="0">
              <a:spcBef>
                <a:spcPts val="1800"/>
              </a:spcBef>
              <a:buNone/>
              <a:defRPr sz="1400" b="0"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800100" indent="-342900"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>
                <a:latin typeface="+mn-lt"/>
              </a:defRPr>
            </a:lvl2pPr>
            <a:lvl3pPr marL="1257300" indent="-342900">
              <a:spcBef>
                <a:spcPts val="0"/>
              </a:spcBef>
              <a:buFont typeface="Roboto Light" panose="02000000000000000000" pitchFamily="2" charset="0"/>
              <a:buChar char="-"/>
              <a:defRPr sz="1200">
                <a:latin typeface="+mn-lt"/>
              </a:defRPr>
            </a:lvl3pPr>
            <a:lvl4pPr marL="1657350" indent="-285750">
              <a:spcBef>
                <a:spcPts val="0"/>
              </a:spcBef>
              <a:buFont typeface="Roboto Light" panose="02000000000000000000" pitchFamily="2" charset="0"/>
              <a:buChar char="-"/>
              <a:defRPr sz="1200">
                <a:latin typeface="+mn-lt"/>
              </a:defRPr>
            </a:lvl4pPr>
            <a:lvl5pPr marL="2114550" indent="-285750">
              <a:spcBef>
                <a:spcPts val="0"/>
              </a:spcBef>
              <a:buFont typeface="Roboto Light" panose="02000000000000000000" pitchFamily="2" charset="0"/>
              <a:buChar char="-"/>
              <a:defRPr sz="1200"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49863A12-A66A-429E-8F66-C5A5F81F1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602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image" Target="../media/image4.svg"/><Relationship Id="rId5" Type="http://schemas.openxmlformats.org/officeDocument/2006/relationships/slideLayout" Target="../slideLayouts/slideLayout8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4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65127"/>
            <a:ext cx="8686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981200"/>
            <a:ext cx="8686800" cy="43052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200F2B-F467-4C29-9963-7410829293A6}" type="datetime1">
              <a:rPr lang="en-GB" smtClean="0"/>
              <a:t>29/07/2026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54B3B4-4093-4FBB-A391-3009E9C94F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4036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718" r:id="rId2"/>
    <p:sldLayoutId id="214748368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12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ABA4FFF-F8DA-4A29-9B65-F1746317D796}"/>
              </a:ext>
            </a:extLst>
          </p:cNvPr>
          <p:cNvSpPr/>
          <p:nvPr userDrawn="1"/>
        </p:nvSpPr>
        <p:spPr>
          <a:xfrm>
            <a:off x="0" y="0"/>
            <a:ext cx="9906000" cy="937697"/>
          </a:xfrm>
          <a:prstGeom prst="rect">
            <a:avLst/>
          </a:prstGeom>
          <a:solidFill>
            <a:srgbClr val="1767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4841" y="1270000"/>
            <a:ext cx="8656319" cy="5040630"/>
          </a:xfrm>
          <a:prstGeom prst="rect">
            <a:avLst/>
          </a:prstGeom>
        </p:spPr>
        <p:txBody>
          <a:bodyPr vert="horz" lIns="91440" tIns="360000" rIns="91440" bIns="36000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29/07/2026</a:t>
            </a:fld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F607E8-3AD8-4761-A539-4C500EF2C84D}"/>
              </a:ext>
            </a:extLst>
          </p:cNvPr>
          <p:cNvSpPr/>
          <p:nvPr userDrawn="1"/>
        </p:nvSpPr>
        <p:spPr>
          <a:xfrm>
            <a:off x="82510" y="376501"/>
            <a:ext cx="9906000" cy="9376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C959611-4FE0-4C4B-AC53-40A2E2FC9F6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029258" y="-559124"/>
            <a:ext cx="2688790" cy="2993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572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4" r:id="rId3"/>
    <p:sldLayoutId id="2147483715" r:id="rId4"/>
    <p:sldLayoutId id="2147483709" r:id="rId5"/>
    <p:sldLayoutId id="2147483708" r:id="rId6"/>
    <p:sldLayoutId id="2147483712" r:id="rId7"/>
    <p:sldLayoutId id="2147483716" r:id="rId8"/>
    <p:sldLayoutId id="214748371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200" kern="120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Roboto Medium" panose="020000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200" kern="12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100" kern="12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100" kern="12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26" userDrawn="1">
          <p15:clr>
            <a:srgbClr val="F26B43"/>
          </p15:clr>
        </p15:guide>
        <p15:guide id="3" orient="horz" pos="3748" userDrawn="1">
          <p15:clr>
            <a:srgbClr val="F26B43"/>
          </p15:clr>
        </p15:guide>
        <p15:guide id="4" pos="3120" userDrawn="1">
          <p15:clr>
            <a:srgbClr val="F26B43"/>
          </p15:clr>
        </p15:guide>
        <p15:guide id="5" pos="466" userDrawn="1">
          <p15:clr>
            <a:srgbClr val="F26B43"/>
          </p15:clr>
        </p15:guide>
        <p15:guide id="10" pos="5774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6706E2-5FAA-84FA-2BA5-FE79CAD3C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C0190-CDC1-B11F-77F2-806F5CA2BF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DD5702-9985-065D-0AB2-8A50FAB462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200F2B-F467-4C29-9963-7410829293A6}" type="datetime1">
              <a:rPr lang="en-GB" smtClean="0"/>
              <a:t>29/07/2026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7D5C0-8D58-1C1F-A78A-228B0436F7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1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DE8CF6-4336-9D2A-79F2-C80B07BBF4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54B3B4-4093-4FBB-A391-3009E9C94F95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F4DD7E-A58E-ABD5-09A2-5FB5700DB8C3}"/>
              </a:ext>
            </a:extLst>
          </p:cNvPr>
          <p:cNvSpPr/>
          <p:nvPr userDrawn="1"/>
        </p:nvSpPr>
        <p:spPr>
          <a:xfrm>
            <a:off x="0" y="0"/>
            <a:ext cx="9906000" cy="937697"/>
          </a:xfrm>
          <a:prstGeom prst="rect">
            <a:avLst/>
          </a:prstGeom>
          <a:solidFill>
            <a:srgbClr val="1767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83EFDE-40D5-5DED-EC2D-04C76685548C}"/>
              </a:ext>
            </a:extLst>
          </p:cNvPr>
          <p:cNvSpPr/>
          <p:nvPr userDrawn="1"/>
        </p:nvSpPr>
        <p:spPr>
          <a:xfrm>
            <a:off x="82510" y="376501"/>
            <a:ext cx="9906000" cy="9376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857AE01-FD5E-3922-26A9-AC97650427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029258" y="-559124"/>
            <a:ext cx="2688790" cy="2993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4215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  <p:sldLayoutId id="2147483757" r:id="rId12"/>
  </p:sldLayoutIdLst>
  <p:hf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26" userDrawn="1">
          <p15:clr>
            <a:srgbClr val="F26B43"/>
          </p15:clr>
        </p15:guide>
        <p15:guide id="2" orient="horz" pos="3748" userDrawn="1">
          <p15:clr>
            <a:srgbClr val="F26B43"/>
          </p15:clr>
        </p15:guide>
        <p15:guide id="3" pos="3120" userDrawn="1">
          <p15:clr>
            <a:srgbClr val="F26B43"/>
          </p15:clr>
        </p15:guide>
        <p15:guide id="4" pos="466" userDrawn="1">
          <p15:clr>
            <a:srgbClr val="F26B43"/>
          </p15:clr>
        </p15:guide>
        <p15:guide id="5" pos="577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4130165"/>
            <a:ext cx="8420100" cy="1328455"/>
          </a:xfrm>
        </p:spPr>
        <p:txBody>
          <a:bodyPr>
            <a:normAutofit/>
          </a:bodyPr>
          <a:lstStyle/>
          <a:p>
            <a:pPr algn="l"/>
            <a:r>
              <a:rPr lang="en-US" sz="4400" kern="0" spc="-94" dirty="0">
                <a:latin typeface="Arial" pitchFamily="34" charset="0"/>
                <a:ea typeface="Arial" pitchFamily="34" charset="-122"/>
                <a:cs typeface="Arial" pitchFamily="34" charset="-120"/>
              </a:rPr>
              <a:t>Portfolio &amp; Building Analytics</a:t>
            </a:r>
            <a:endParaRPr lang="en-US" sz="4400" dirty="0"/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sz="2400" kern="0" spc="-94" dirty="0">
                <a:latin typeface="Arial" pitchFamily="34" charset="0"/>
                <a:ea typeface="Arial" pitchFamily="34" charset="-122"/>
                <a:cs typeface="Arial" pitchFamily="34" charset="-120"/>
              </a:rPr>
              <a:t>Americas Real Estate Insights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30401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D81F1DA-39EA-A422-4FB7-F151AE75E95B}"/>
              </a:ext>
            </a:extLst>
          </p:cNvPr>
          <p:cNvSpPr txBox="1"/>
          <p:nvPr/>
        </p:nvSpPr>
        <p:spPr>
          <a:xfrm>
            <a:off x="4642375" y="4100053"/>
            <a:ext cx="497357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/>
              <a:t>Across the 10 Americas buildings, vacancy rates are consistently low — ranging from 4.1% to 5.7% for nine of the buildings. Building F stands as a significant outlier at 24% vacancy, nearly 5x the portfolio average.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r>
              <a:rPr lang="en-US" sz="1600" dirty="0"/>
              <a:t>Building E has the next highest vacancy at 5.7%, followed by Building H at 5.6%. Buildings G and A are the most efficiently utilized at 4.1% and 4.4% respectively.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0FE98C-A16B-B331-9711-B23546B52257}"/>
              </a:ext>
            </a:extLst>
          </p:cNvPr>
          <p:cNvSpPr/>
          <p:nvPr/>
        </p:nvSpPr>
        <p:spPr>
          <a:xfrm>
            <a:off x="0" y="0"/>
            <a:ext cx="9906000" cy="9537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D04286-3226-6A86-B428-27A06188B343}"/>
              </a:ext>
            </a:extLst>
          </p:cNvPr>
          <p:cNvSpPr txBox="1"/>
          <p:nvPr/>
        </p:nvSpPr>
        <p:spPr>
          <a:xfrm>
            <a:off x="290051" y="4208208"/>
            <a:ext cx="402630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dirty="0"/>
              <a:t>Building Level Metrics – </a:t>
            </a:r>
          </a:p>
          <a:p>
            <a:pPr>
              <a:buNone/>
            </a:pPr>
            <a:r>
              <a:rPr lang="en-US" sz="2800" b="1" dirty="0"/>
              <a:t>Vacant % by Building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13C5A4-A268-7C6A-1F86-CD3588472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15" y="202654"/>
            <a:ext cx="9617769" cy="3422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780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F1259-5130-AB37-9F08-E6382A556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2478C-BEF6-73CC-C164-5B6E7ED9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398" y="1440082"/>
            <a:ext cx="4261421" cy="2706329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Human Resources leads with 98% alignment — best in building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Engineering, Finance, Staff Groups, Operations all Healthy/Excellent (89–96%)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Retail is a clear outlier at 68% alignment (32% misallocated) — nearly 3x the building average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C55D89B-124F-4845-E705-F44BC7BFF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kern="1400" spc="200" dirty="0"/>
              <a:t>Actual vs. Allocated Space Alignment – Building F</a:t>
            </a:r>
            <a:endParaRPr lang="en-US" kern="1400" spc="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EF81EE-0C21-21CA-48AA-B9ADA59BE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9950" y="1422876"/>
            <a:ext cx="4484494" cy="42208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1FF8A76-5998-AB9D-227B-A0C933D2DED5}"/>
              </a:ext>
            </a:extLst>
          </p:cNvPr>
          <p:cNvSpPr txBox="1">
            <a:spLocks/>
          </p:cNvSpPr>
          <p:nvPr/>
        </p:nvSpPr>
        <p:spPr>
          <a:xfrm>
            <a:off x="662942" y="4146411"/>
            <a:ext cx="4261421" cy="1596102"/>
          </a:xfrm>
          <a:prstGeom prst="rect">
            <a:avLst/>
          </a:prstGeom>
        </p:spPr>
        <p:txBody>
          <a:bodyPr vert="horz" lIns="91440" tIns="180000" rIns="91440" bIns="18000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Font typeface="Wingdings" panose="05000000000000000000" pitchFamily="2" charset="2"/>
              <a:buNone/>
              <a:defRPr sz="1400" b="0" kern="1200"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Roboto Light" panose="02000000000000000000" pitchFamily="2" charset="0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Roboto Light" panose="02000000000000000000" pitchFamily="2" charset="0"/>
              <a:buChar char="-"/>
              <a:defRPr sz="1200" kern="120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Roboto Light" panose="02000000000000000000" pitchFamily="2" charset="0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Roboto Light" panose="02000000000000000000" pitchFamily="2" charset="0"/>
              <a:buChar char="-"/>
              <a:defRPr sz="1200" kern="120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Roboto Light" panose="02000000000000000000" pitchFamily="2" charset="0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Roboto Light" panose="02000000000000000000" pitchFamily="2" charset="0"/>
              <a:buChar char="-"/>
              <a:defRPr sz="1200" kern="120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Roboto Light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Recommendation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</a:t>
            </a:r>
          </a:p>
          <a:p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Investigate Retail's space misalignment — confirm if intentional (project seating, temp moves) or needs reallocation</a:t>
            </a:r>
          </a:p>
        </p:txBody>
      </p:sp>
    </p:spTree>
    <p:extLst>
      <p:ext uri="{BB962C8B-B14F-4D97-AF65-F5344CB8AC3E}">
        <p14:creationId xmlns:p14="http://schemas.microsoft.com/office/powerpoint/2010/main" val="662444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B24FD-295C-0F8B-BEB2-F72A2BECE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07F34A8-1176-3F01-4E4F-F3D3C293A2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398" y="1440082"/>
            <a:ext cx="4261421" cy="2706329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Floor 1: 72% aligned — office-heavy, low flex capacity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Floor 2: 65% aligned — more flex seats, but overflow spills into other orgs'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Root cause: insufficient Retail-allocated seats on either floor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E5AD8F9-1CEE-B7CE-5E31-62D4617B8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spc="200" dirty="0"/>
              <a:t>Retail Workspace Allocation by Floor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4F7744-708D-3292-6FB7-85EDA3FC6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1639" y="1478322"/>
            <a:ext cx="4426968" cy="46788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AE0BB90-C764-FED9-4E5F-2F2D0F95D033}"/>
              </a:ext>
            </a:extLst>
          </p:cNvPr>
          <p:cNvSpPr txBox="1">
            <a:spLocks/>
          </p:cNvSpPr>
          <p:nvPr/>
        </p:nvSpPr>
        <p:spPr>
          <a:xfrm>
            <a:off x="662942" y="4146411"/>
            <a:ext cx="4261421" cy="1596102"/>
          </a:xfrm>
          <a:prstGeom prst="rect">
            <a:avLst/>
          </a:prstGeom>
        </p:spPr>
        <p:txBody>
          <a:bodyPr vert="horz" lIns="91440" tIns="180000" rIns="91440" bIns="18000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Font typeface="Wingdings" panose="05000000000000000000" pitchFamily="2" charset="2"/>
              <a:buNone/>
              <a:defRPr sz="1400" b="0" kern="1200"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Roboto Light" panose="02000000000000000000" pitchFamily="2" charset="0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Roboto Light" panose="02000000000000000000" pitchFamily="2" charset="0"/>
              <a:buChar char="-"/>
              <a:defRPr sz="1200" kern="120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Roboto Light" panose="02000000000000000000" pitchFamily="2" charset="0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Roboto Light" panose="02000000000000000000" pitchFamily="2" charset="0"/>
              <a:buChar char="-"/>
              <a:defRPr sz="1200" kern="120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Roboto Light" panose="02000000000000000000" pitchFamily="2" charset="0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Roboto Light" panose="02000000000000000000" pitchFamily="2" charset="0"/>
              <a:buChar char="-"/>
              <a:defRPr sz="1200" kern="1200">
                <a:solidFill>
                  <a:schemeClr val="tx1"/>
                </a:solidFill>
                <a:latin typeface="+mn-lt"/>
                <a:ea typeface="Roboto Light" panose="02000000000000000000" pitchFamily="2" charset="0"/>
                <a:cs typeface="Roboto Light" panose="02000000000000000000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Recommendation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</a:t>
            </a:r>
          </a:p>
          <a:p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Consolidate Retail, reallocate surplus from under-used orgs (e.g., Engineering), and add flex seating on Floor 1 — then monitor</a:t>
            </a:r>
          </a:p>
        </p:txBody>
      </p:sp>
    </p:spTree>
    <p:extLst>
      <p:ext uri="{BB962C8B-B14F-4D97-AF65-F5344CB8AC3E}">
        <p14:creationId xmlns:p14="http://schemas.microsoft.com/office/powerpoint/2010/main" val="819619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639DD-1B32-7A6A-DC60-2A57C30A1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14CC2-9F05-AB75-A23A-AB77BBF9F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292" y="1358041"/>
            <a:ext cx="4493708" cy="504063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Overall occupancy: 38 of 53 workstations (~72%) — 15 vacant desks remain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Engineering is the biggest </a:t>
            </a:r>
            <a:r>
              <a:rPr lang="en-US" sz="16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underutilizer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only 1 occupied vs. 13 vacant — largest reallocation opportunity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Travel, Technologies, and Staff Groups are fully utilized (14, 9, 8 occupied, 0 vacant) — no spare capacity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Retail and Utilities show minimal presence (0 occupied, 1 vacant each) — negligible footprint on this floor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98208A-A378-4642-D54A-C197C9523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kern="1400" spc="200" dirty="0"/>
              <a:t>Floor 1 Seating Map — Occupancy by Business Unit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B9B392-2260-771C-C3E2-1E37FE00FD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129"/>
          <a:stretch>
            <a:fillRect/>
          </a:stretch>
        </p:blipFill>
        <p:spPr>
          <a:xfrm>
            <a:off x="4953000" y="1358041"/>
            <a:ext cx="4857750" cy="4785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813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3D13-4C33-2803-CE4D-915E45398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1810F-144D-D26C-7BDF-7FF428E247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204" y="1000126"/>
            <a:ext cx="8156836" cy="5591174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 Investigate Retail Misalignment</a:t>
            </a:r>
          </a:p>
          <a:p>
            <a:r>
              <a:rPr lang="en-US" sz="1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Audit the 32% seat misalignment in Retail — determine if project-based seating or temporary moves are the root cause and formalize reallocation if needed.</a:t>
            </a:r>
          </a:p>
          <a:p>
            <a:endParaRPr lang="en-US" sz="1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r>
              <a:rPr lang="en-US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2. Reallocate Engineering Surplus on Floor 1</a:t>
            </a:r>
          </a:p>
          <a:p>
            <a:r>
              <a:rPr lang="en-US" sz="1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 13 vacant desks and only 1 occupied, Engineering holds the largest unrealized capacity on Floor 1. Redirect these seats to Retail or other capacity-constrained teams.</a:t>
            </a:r>
          </a:p>
          <a:p>
            <a:endParaRPr lang="en-US" sz="1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r>
              <a:rPr lang="en-US" sz="18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3. Add Flex Seating on Floor 1</a:t>
            </a:r>
          </a:p>
          <a:p>
            <a:r>
              <a:rPr lang="en-US" sz="1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Supplement permanent allocations with touchdown and project/team room seats on Floor 1 to absorb overflow and improve the 72% alignment score. Monitor weekly.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B39CA9-532D-4748-1494-DEEB56F21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kern="1400" spc="200" dirty="0"/>
              <a:t>Action Plan — Building F Space Optimization</a:t>
            </a:r>
          </a:p>
        </p:txBody>
      </p:sp>
    </p:spTree>
    <p:extLst>
      <p:ext uri="{BB962C8B-B14F-4D97-AF65-F5344CB8AC3E}">
        <p14:creationId xmlns:p14="http://schemas.microsoft.com/office/powerpoint/2010/main" val="241599887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1">
      <a:dk1>
        <a:srgbClr val="2B2B2B"/>
      </a:dk1>
      <a:lt1>
        <a:sysClr val="window" lastClr="FFFFFF"/>
      </a:lt1>
      <a:dk2>
        <a:srgbClr val="3F3F3F"/>
      </a:dk2>
      <a:lt2>
        <a:srgbClr val="F2F2F2"/>
      </a:lt2>
      <a:accent1>
        <a:srgbClr val="1767D2"/>
      </a:accent1>
      <a:accent2>
        <a:srgbClr val="FF9933"/>
      </a:accent2>
      <a:accent3>
        <a:srgbClr val="D43900"/>
      </a:accent3>
      <a:accent4>
        <a:srgbClr val="FFCC33"/>
      </a:accent4>
      <a:accent5>
        <a:srgbClr val="049A0D"/>
      </a:accent5>
      <a:accent6>
        <a:srgbClr val="9933CC"/>
      </a:accent6>
      <a:hlink>
        <a:srgbClr val="D43900"/>
      </a:hlink>
      <a:folHlink>
        <a:srgbClr val="3F3F3F"/>
      </a:folHlink>
    </a:clrScheme>
    <a:fontScheme name="Custom 1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WP Presentation Template 2019 V2" id="{D0AFA5D4-1B40-4E28-A0B0-7514C8BD9573}" vid="{4F77912F-785B-4553-A7A9-4B089D7E95DC}"/>
    </a:ext>
  </a:extLst>
</a:theme>
</file>

<file path=ppt/theme/theme2.xml><?xml version="1.0" encoding="utf-8"?>
<a:theme xmlns:a="http://schemas.openxmlformats.org/drawingml/2006/main" name="Custom Design">
  <a:themeElements>
    <a:clrScheme name="Custom 4">
      <a:dk1>
        <a:srgbClr val="2B2B2B"/>
      </a:dk1>
      <a:lt1>
        <a:sysClr val="window" lastClr="FFFFFF"/>
      </a:lt1>
      <a:dk2>
        <a:srgbClr val="3F3F3F"/>
      </a:dk2>
      <a:lt2>
        <a:srgbClr val="F2F2F2"/>
      </a:lt2>
      <a:accent1>
        <a:srgbClr val="1767D2"/>
      </a:accent1>
      <a:accent2>
        <a:srgbClr val="FF9933"/>
      </a:accent2>
      <a:accent3>
        <a:srgbClr val="D43900"/>
      </a:accent3>
      <a:accent4>
        <a:srgbClr val="FFCC33"/>
      </a:accent4>
      <a:accent5>
        <a:srgbClr val="049A0D"/>
      </a:accent5>
      <a:accent6>
        <a:srgbClr val="9933CC"/>
      </a:accent6>
      <a:hlink>
        <a:srgbClr val="D43900"/>
      </a:hlink>
      <a:folHlink>
        <a:srgbClr val="3F3F3F"/>
      </a:folHlink>
    </a:clrScheme>
    <a:fontScheme name="Custom 1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WP Presentation Template 2019 V2" id="{D0AFA5D4-1B40-4E28-A0B0-7514C8BD9573}" vid="{216DAB90-81E8-4CAE-80F6-76D5C56DDBC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474C0DDFCB744F82F415B088B01E4B" ma:contentTypeVersion="14" ma:contentTypeDescription="Create a new document." ma:contentTypeScope="" ma:versionID="e5e9462897096f16b0008292cbb975dd">
  <xsd:schema xmlns:xsd="http://www.w3.org/2001/XMLSchema" xmlns:xs="http://www.w3.org/2001/XMLSchema" xmlns:p="http://schemas.microsoft.com/office/2006/metadata/properties" xmlns:ns3="1c75bd5f-743b-40f2-bae2-8e86a640c5ff" xmlns:ns4="153ae615-e700-431c-905c-1e4cee6d6937" targetNamespace="http://schemas.microsoft.com/office/2006/metadata/properties" ma:root="true" ma:fieldsID="590d4ed62c67927dcdef9f8de5167c65" ns3:_="" ns4:_="">
    <xsd:import namespace="1c75bd5f-743b-40f2-bae2-8e86a640c5ff"/>
    <xsd:import namespace="153ae615-e700-431c-905c-1e4cee6d6937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LengthInSeconds" minOccurs="0"/>
                <xsd:element ref="ns4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75bd5f-743b-40f2-bae2-8e86a640c5f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3ae615-e700-431c-905c-1e4cee6d693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45D76EC-F2F5-48B8-95DA-EF0FB4B2183F}">
  <ds:schemaRefs>
    <ds:schemaRef ds:uri="http://purl.org/dc/elements/1.1/"/>
    <ds:schemaRef ds:uri="http://schemas.microsoft.com/office/2006/metadata/properties"/>
    <ds:schemaRef ds:uri="1c75bd5f-743b-40f2-bae2-8e86a640c5ff"/>
    <ds:schemaRef ds:uri="http://purl.org/dc/terms/"/>
    <ds:schemaRef ds:uri="153ae615-e700-431c-905c-1e4cee6d693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1D4F0347-749B-4FE7-BD83-FBDC671D74F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98D8A7F-A9E3-46B6-AF87-01F7F1B9800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c75bd5f-743b-40f2-bae2-8e86a640c5ff"/>
    <ds:schemaRef ds:uri="153ae615-e700-431c-905c-1e4cee6d693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882</TotalTime>
  <Words>437</Words>
  <Application>Microsoft Office PowerPoint</Application>
  <PresentationFormat>A4 Paper (210x297 mm)</PresentationFormat>
  <Paragraphs>33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</vt:i4>
      </vt:variant>
    </vt:vector>
  </HeadingPairs>
  <TitlesOfParts>
    <vt:vector size="17" baseType="lpstr">
      <vt:lpstr>Arial</vt:lpstr>
      <vt:lpstr>Roboto</vt:lpstr>
      <vt:lpstr>Roboto Medium</vt:lpstr>
      <vt:lpstr>Wingdings</vt:lpstr>
      <vt:lpstr>Aptos</vt:lpstr>
      <vt:lpstr>Roboto Light</vt:lpstr>
      <vt:lpstr>Calibri</vt:lpstr>
      <vt:lpstr>Aptos Display</vt:lpstr>
      <vt:lpstr>1_Office Theme</vt:lpstr>
      <vt:lpstr>Custom Design</vt:lpstr>
      <vt:lpstr>Office Theme</vt:lpstr>
      <vt:lpstr>Portfolio &amp; Building Analytics</vt:lpstr>
      <vt:lpstr>PowerPoint Presentation</vt:lpstr>
      <vt:lpstr>Actual vs. Allocated Space Alignment – Building F</vt:lpstr>
      <vt:lpstr>Retail Workspace Allocation by Floor</vt:lpstr>
      <vt:lpstr>Floor 1 Seating Map — Occupancy by Business Unit</vt:lpstr>
      <vt:lpstr>Action Plan — Building F Space Optimization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CWP Template Guide</dc:title>
  <dc:creator>Chloe Benfell</dc:creator>
  <cp:lastModifiedBy>Maulik Paghdal</cp:lastModifiedBy>
  <cp:revision>103</cp:revision>
  <cp:lastPrinted>2016-10-20T13:15:12Z</cp:lastPrinted>
  <dcterms:created xsi:type="dcterms:W3CDTF">2019-01-31T13:36:26Z</dcterms:created>
  <dcterms:modified xsi:type="dcterms:W3CDTF">2026-07-29T04:46:49Z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0x01010028474C0DDFCB744F82F415B088B01E4B</vt:lpwstr>
  </property>
  <property fmtid="{D5CDD505-2E9C-101B-9397-08002B2CF9AE}" pid="3" name="_dlc_DocIdItemGuid">
    <vt:lpwstr>f10d3643-9e5a-465d-a6d6-926476caee6d</vt:lpwstr>
  </property>
</Properties>
</file>