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703" r:id="rId5"/>
  </p:sldMasterIdLst>
  <p:notesMasterIdLst>
    <p:notesMasterId r:id="rId18"/>
  </p:notesMasterIdLst>
  <p:handoutMasterIdLst>
    <p:handoutMasterId r:id="rId19"/>
  </p:handoutMasterIdLst>
  <p:sldIdLst>
    <p:sldId id="361" r:id="rId6"/>
    <p:sldId id="401" r:id="rId7"/>
    <p:sldId id="432" r:id="rId8"/>
    <p:sldId id="408" r:id="rId9"/>
    <p:sldId id="434" r:id="rId10"/>
    <p:sldId id="435" r:id="rId11"/>
    <p:sldId id="436" r:id="rId12"/>
    <p:sldId id="438" r:id="rId13"/>
    <p:sldId id="440" r:id="rId14"/>
    <p:sldId id="441" r:id="rId15"/>
    <p:sldId id="442" r:id="rId16"/>
    <p:sldId id="443" r:id="rId17"/>
  </p:sldIdLst>
  <p:sldSz cx="9906000" cy="6858000" type="A4"/>
  <p:notesSz cx="6797675" cy="9926638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00000000000000000" pitchFamily="2" charset="0"/>
      <p:regular r:id="rId24"/>
      <p:italic r:id="rId25"/>
    </p:embeddedFont>
    <p:embeddedFont>
      <p:font typeface="Roboto Medium" panose="02000000000000000000" pitchFamily="2" charset="0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oghan McHugh" initials="EM" lastIdx="1" clrIdx="0">
    <p:extLst>
      <p:ext uri="{19B8F6BF-5375-455C-9EA6-DF929625EA0E}">
        <p15:presenceInfo xmlns:p15="http://schemas.microsoft.com/office/powerpoint/2012/main" userId="S-1-5-21-784345893-1380450881-7473742-7158" providerId="AD"/>
      </p:ext>
    </p:extLst>
  </p:cmAuthor>
  <p:cmAuthor id="2" name="Chloe Benfell" initials="CB" lastIdx="1" clrIdx="1">
    <p:extLst>
      <p:ext uri="{19B8F6BF-5375-455C-9EA6-DF929625EA0E}">
        <p15:presenceInfo xmlns:p15="http://schemas.microsoft.com/office/powerpoint/2012/main" userId="S-1-5-21-784345893-1380450881-7473742-71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7D2"/>
    <a:srgbClr val="06C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>
        <p:scale>
          <a:sx n="80" d="100"/>
          <a:sy n="80" d="100"/>
        </p:scale>
        <p:origin x="1330" y="-29"/>
      </p:cViewPr>
      <p:guideLst/>
    </p:cSldViewPr>
  </p:slideViewPr>
  <p:outlineViewPr>
    <p:cViewPr>
      <p:scale>
        <a:sx n="33" d="100"/>
        <a:sy n="33" d="100"/>
      </p:scale>
      <p:origin x="0" y="-203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635DC-7C77-4EDC-877E-93E281EA2302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DB527-A84F-4511-8370-005F41A96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1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7EAFC-5287-4976-8725-CD476620A400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AFB08-199B-4F6F-99BE-170171BD94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0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662" y="-2407407"/>
            <a:ext cx="9050813" cy="100769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4038089"/>
            <a:ext cx="8420100" cy="1328455"/>
          </a:xfrm>
        </p:spPr>
        <p:txBody>
          <a:bodyPr anchor="ctr" anchorCtr="0">
            <a:normAutofit/>
          </a:bodyPr>
          <a:lstStyle>
            <a:lvl1pPr algn="ctr">
              <a:defRPr sz="4200" b="1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Document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38250" y="5458620"/>
            <a:ext cx="7429500" cy="366712"/>
          </a:xfrm>
        </p:spPr>
        <p:txBody>
          <a:bodyPr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DOCUMENT SUB-TITLE (ALL CAPS)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1CC22B-4DD7-49EA-A15D-B181FCDA0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1795" y="1563289"/>
            <a:ext cx="2802412" cy="12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376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D6DD8C-F1DA-4F04-901D-56E376CF8B67}"/>
              </a:ext>
            </a:extLst>
          </p:cNvPr>
          <p:cNvSpPr/>
          <p:nvPr userDrawn="1"/>
        </p:nvSpPr>
        <p:spPr>
          <a:xfrm>
            <a:off x="0" y="5455664"/>
            <a:ext cx="9906000" cy="1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>
                  <a:noFill/>
                </a:ln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9906000" cy="54556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546" y="-1941827"/>
            <a:ext cx="9050813" cy="10076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CA92CE-1AE8-4F99-8B2B-ECE4D497ACD5}"/>
              </a:ext>
            </a:extLst>
          </p:cNvPr>
          <p:cNvSpPr txBox="1"/>
          <p:nvPr userDrawn="1"/>
        </p:nvSpPr>
        <p:spPr>
          <a:xfrm>
            <a:off x="4303059" y="5833667"/>
            <a:ext cx="5271247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The Changing Workplace Ltd, 1 Boltro Road, Haywards Heath, West Sussex, RH16 1BY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3E333-889F-431B-B545-5902EE0B5160}"/>
              </a:ext>
            </a:extLst>
          </p:cNvPr>
          <p:cNvSpPr txBox="1"/>
          <p:nvPr userDrawn="1"/>
        </p:nvSpPr>
        <p:spPr>
          <a:xfrm>
            <a:off x="5409560" y="6071907"/>
            <a:ext cx="416474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(+44) 1444 441 000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C55AC-0AD2-45C8-95F5-5FD47C789749}"/>
              </a:ext>
            </a:extLst>
          </p:cNvPr>
          <p:cNvSpPr txBox="1"/>
          <p:nvPr userDrawn="1"/>
        </p:nvSpPr>
        <p:spPr>
          <a:xfrm>
            <a:off x="5409560" y="6320477"/>
            <a:ext cx="416474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www.changingworkplace.com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11F8C8-1386-4445-BD22-194CFFECB03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51" y="5833667"/>
            <a:ext cx="1563813" cy="67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307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C9E7CE-A078-46E5-8D29-FCBB6DDA6B52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5879" y="2065811"/>
            <a:ext cx="8543925" cy="1125857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Section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79" y="3279027"/>
            <a:ext cx="8543925" cy="1439816"/>
          </a:xfrm>
        </p:spPr>
        <p:txBody>
          <a:bodyPr>
            <a:normAutofit/>
          </a:bodyPr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SUB-HEADING (ALL CAPS)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450598-144D-485E-9A3B-A60F1BDD3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3543" y="-1306634"/>
            <a:ext cx="9050813" cy="1007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386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Number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624840" y="1270000"/>
            <a:ext cx="8656319" cy="5040630"/>
          </a:xfrm>
        </p:spPr>
        <p:txBody>
          <a:bodyPr anchor="t" anchorCtr="0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50132" indent="-278627">
              <a:buClr>
                <a:schemeClr val="tx1"/>
              </a:buClr>
              <a:buFont typeface="+mj-lt"/>
              <a:buAutoNum type="arabicPeriod"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021633" indent="-278627">
              <a:buClr>
                <a:schemeClr val="tx1"/>
              </a:buClr>
              <a:buFont typeface="+mj-lt"/>
              <a:buAutoNum type="arabicPeriod"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393136" indent="-278627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764638" indent="-278627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6728FD4-BEE1-4EDE-BE82-DEE658D7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9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4" orient="horz" pos="2500">
          <p15:clr>
            <a:srgbClr val="FBAE40"/>
          </p15:clr>
        </p15:guide>
        <p15:guide id="10" orient="horz" pos="4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41CADAC-BB31-44D9-B3EB-F59AD4A7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21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>
              <a:spcBef>
                <a:spcPts val="1200"/>
              </a:spcBef>
              <a:defRPr sz="1400"/>
            </a:lvl1pPr>
            <a:lvl2pPr marL="685800" indent="-228600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EFD6DF6-CF6B-4FFC-A942-7E21A432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45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964093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0"/>
          </p:nvPr>
        </p:nvSpPr>
        <p:spPr>
          <a:xfrm>
            <a:off x="5317067" y="1270000"/>
            <a:ext cx="3964094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003BD65-CAC0-450F-92A8-F7B7B30A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13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4953004" y="1270000"/>
            <a:ext cx="4952996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61949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800100" indent="-342900">
              <a:buClr>
                <a:schemeClr val="tx1"/>
              </a:buClr>
              <a:buFont typeface="+mj-lt"/>
              <a:buAutoNum type="alphaLcPeriod"/>
              <a:defRPr sz="1200"/>
            </a:lvl2pPr>
            <a:lvl3pPr marL="1257300" indent="-342900">
              <a:buFont typeface="+mj-lt"/>
              <a:buAutoNum type="romanLcPeriod"/>
              <a:defRPr sz="1200"/>
            </a:lvl3pPr>
            <a:lvl4pPr marL="1714500" indent="-342900">
              <a:buFont typeface="+mj-lt"/>
              <a:buAutoNum type="romanLcPeriod"/>
              <a:defRPr sz="1100"/>
            </a:lvl4pPr>
            <a:lvl5pPr marL="2171700" indent="-342900">
              <a:buFont typeface="+mj-lt"/>
              <a:buAutoNum type="romanLcPeriod"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D42D41B-26F6-44E4-9928-87DC1275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8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4953004" y="1270000"/>
            <a:ext cx="4952996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61949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0" indent="0">
              <a:spcBef>
                <a:spcPts val="1800"/>
              </a:spcBef>
              <a:buNone/>
              <a:defRPr sz="1400" b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800100" indent="-342900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2pPr>
            <a:lvl3pPr marL="1257300" indent="-34290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3pPr>
            <a:lvl4pPr marL="1657350" indent="-28575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4pPr>
            <a:lvl5pPr marL="2114550" indent="-28575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863A12-A66A-429E-8F66-C5A5F81F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82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&amp;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5664200" y="1989668"/>
            <a:ext cx="3616960" cy="3615266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432815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9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70E0BF9-227B-47F7-8952-2C8388D471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203" y="1152605"/>
            <a:ext cx="8656319" cy="506377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16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/>
              <a:t>Heading </a:t>
            </a:r>
            <a:r>
              <a:rPr lang="en-GB" err="1"/>
              <a:t>afas</a:t>
            </a:r>
            <a:r>
              <a:rPr lang="en-GB"/>
              <a:t>  gas </a:t>
            </a:r>
            <a:r>
              <a:rPr lang="en-GB" err="1"/>
              <a:t>ahHeading</a:t>
            </a:r>
            <a:r>
              <a:rPr lang="en-GB"/>
              <a:t> </a:t>
            </a:r>
            <a:r>
              <a:rPr lang="en-GB" err="1"/>
              <a:t>afas</a:t>
            </a:r>
            <a:r>
              <a:rPr lang="en-GB"/>
              <a:t>  gas ah</a:t>
            </a:r>
          </a:p>
        </p:txBody>
      </p:sp>
    </p:spTree>
    <p:extLst>
      <p:ext uri="{BB962C8B-B14F-4D97-AF65-F5344CB8AC3E}">
        <p14:creationId xmlns:p14="http://schemas.microsoft.com/office/powerpoint/2010/main" val="344232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60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127"/>
            <a:ext cx="8686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8686800" cy="4305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00F2B-F467-4C29-9963-7410829293A6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4B3B4-4093-4FBB-A391-3009E9C94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8" r:id="rId2"/>
    <p:sldLayoutId id="214748368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BA4FFF-F8DA-4A29-9B65-F1746317D796}"/>
              </a:ext>
            </a:extLst>
          </p:cNvPr>
          <p:cNvSpPr/>
          <p:nvPr userDrawn="1"/>
        </p:nvSpPr>
        <p:spPr>
          <a:xfrm>
            <a:off x="0" y="0"/>
            <a:ext cx="9906000" cy="937697"/>
          </a:xfrm>
          <a:prstGeom prst="rect">
            <a:avLst/>
          </a:prstGeom>
          <a:solidFill>
            <a:srgbClr val="17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360000" rIns="91440" bIns="36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607E8-3AD8-4761-A539-4C500EF2C84D}"/>
              </a:ext>
            </a:extLst>
          </p:cNvPr>
          <p:cNvSpPr/>
          <p:nvPr userDrawn="1"/>
        </p:nvSpPr>
        <p:spPr>
          <a:xfrm>
            <a:off x="82510" y="376501"/>
            <a:ext cx="9906000" cy="937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C959611-4FE0-4C4B-AC53-40A2E2FC9F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9258" y="-559124"/>
            <a:ext cx="2688790" cy="29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7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4" r:id="rId3"/>
    <p:sldLayoutId id="2147483715" r:id="rId4"/>
    <p:sldLayoutId id="2147483709" r:id="rId5"/>
    <p:sldLayoutId id="2147483708" r:id="rId6"/>
    <p:sldLayoutId id="2147483712" r:id="rId7"/>
    <p:sldLayoutId id="2147483716" r:id="rId8"/>
    <p:sldLayoutId id="214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" panose="05000000000000000000" pitchFamily="2" charset="2"/>
        <a:buChar char="§"/>
        <a:defRPr sz="1400" b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3" orient="horz" pos="3748" userDrawn="1">
          <p15:clr>
            <a:srgbClr val="F26B43"/>
          </p15:clr>
        </p15:guide>
        <p15:guide id="4" pos="3120" userDrawn="1">
          <p15:clr>
            <a:srgbClr val="F26B43"/>
          </p15:clr>
        </p15:guide>
        <p15:guide id="5" pos="466" userDrawn="1">
          <p15:clr>
            <a:srgbClr val="F26B43"/>
          </p15:clr>
        </p15:guide>
        <p15:guide id="10" pos="57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130165"/>
            <a:ext cx="8420100" cy="1328455"/>
          </a:xfrm>
        </p:spPr>
        <p:txBody>
          <a:bodyPr>
            <a:normAutofit/>
          </a:bodyPr>
          <a:lstStyle/>
          <a:p>
            <a:pPr algn="l"/>
            <a:r>
              <a:rPr lang="en-US" sz="4400" kern="0" spc="-94" dirty="0">
                <a:latin typeface="Arial" pitchFamily="34" charset="0"/>
                <a:ea typeface="Arial" pitchFamily="34" charset="-122"/>
                <a:cs typeface="Arial" pitchFamily="34" charset="-120"/>
              </a:rPr>
              <a:t>Portfolio &amp; Building Analytics</a:t>
            </a:r>
            <a:endParaRPr lang="en-US" sz="44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kern="0" spc="-94" dirty="0">
                <a:latin typeface="Arial" pitchFamily="34" charset="0"/>
                <a:ea typeface="Arial" pitchFamily="34" charset="-122"/>
                <a:cs typeface="Arial" pitchFamily="34" charset="-120"/>
              </a:rPr>
              <a:t>Americas Real Estate Insights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040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966" r="1966"/>
          <a:stretch>
            <a:fillRect/>
          </a:stretch>
        </p:blipFill>
        <p:spPr>
          <a:xfrm>
            <a:off x="4627985" y="939283"/>
            <a:ext cx="5278016" cy="5923465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54B3B4-4093-4FBB-A391-3009E9C94F95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62725" y="2903860"/>
            <a:ext cx="4337440" cy="1994309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800" dirty="0"/>
              <a:t>10 buildings analyzed across the Americas.</a:t>
            </a:r>
          </a:p>
          <a:p>
            <a:r>
              <a:rPr lang="en-US" sz="2800" dirty="0"/>
              <a:t>One critical outlier demands immediate attention.</a:t>
            </a:r>
          </a:p>
        </p:txBody>
      </p:sp>
    </p:spTree>
    <p:extLst>
      <p:ext uri="{BB962C8B-B14F-4D97-AF65-F5344CB8AC3E}">
        <p14:creationId xmlns:p14="http://schemas.microsoft.com/office/powerpoint/2010/main" val="179712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3DFF-F363-798A-E6FA-6D522062A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93" y="1230672"/>
            <a:ext cx="3786276" cy="5040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Across the 10 Americas buildings, vacancy rates are broadly healthy — most fall between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reflecting strong space utilization.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Building F is the clear exception at </a:t>
            </a:r>
            <a:r>
              <a:rPr lang="en-US" sz="1600" u="sng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24% vacancy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 rate nearly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4x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 portfolio average and a signal that warrants deeper investigation.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other buildings are operating efficiently with assigned seats closely tracking program headcount.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7FB41C-C19D-1AAB-E6F7-39A65C3E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00" dirty="0"/>
              <a:t>Americas Portfolio — Building-Level Occupancy</a:t>
            </a:r>
            <a:endParaRPr lang="en-US" spc="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32CF-9704-7512-908D-082698FD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699" y="1272167"/>
            <a:ext cx="4923237" cy="49516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95" y="3429000"/>
            <a:ext cx="7140766" cy="1134137"/>
          </a:xfrm>
        </p:spPr>
        <p:txBody>
          <a:bodyPr>
            <a:normAutofit fontScale="90000"/>
          </a:bodyPr>
          <a:lstStyle/>
          <a:p>
            <a:br>
              <a:rPr lang="en-US" spc="200" dirty="0"/>
            </a:br>
            <a:r>
              <a:rPr lang="en-US" spc="200" dirty="0"/>
              <a:t>Building F vacancy rate — nearly 4x </a:t>
            </a:r>
            <a:br>
              <a:rPr lang="en-US" spc="200" dirty="0"/>
            </a:br>
            <a:r>
              <a:rPr lang="en-US" spc="200" dirty="0"/>
              <a:t>the Americas portfolio average of ~5%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19D63-AEBA-3ECA-59BB-12E5D8985D56}"/>
              </a:ext>
            </a:extLst>
          </p:cNvPr>
          <p:cNvSpPr txBox="1"/>
          <p:nvPr/>
        </p:nvSpPr>
        <p:spPr>
          <a:xfrm>
            <a:off x="2342368" y="2552635"/>
            <a:ext cx="28727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spc="200" dirty="0">
                <a:solidFill>
                  <a:schemeClr val="bg1"/>
                </a:solidFill>
              </a:rPr>
              <a:t>24%</a:t>
            </a:r>
          </a:p>
        </p:txBody>
      </p:sp>
    </p:spTree>
    <p:extLst>
      <p:ext uri="{BB962C8B-B14F-4D97-AF65-F5344CB8AC3E}">
        <p14:creationId xmlns:p14="http://schemas.microsoft.com/office/powerpoint/2010/main" val="183975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1259-5130-AB37-9F08-E6382A55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2478C-BEF6-73CC-C164-5B6E7ED9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92" y="1230672"/>
            <a:ext cx="3941257" cy="504063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Building F's overall alignment sits at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89%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which is healthy. Five of six business units — Engineering, Finance, HR, Staff Groups, and Operations — align between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89%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98%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all rated Healthy or Excellent.</a:t>
            </a: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is the critical outlier at just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68%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alignment with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32%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seats misallocated — nearly three times the building average misalignment rate. This single BU is the primary driver of Building F's vacancy anomaly.</a:t>
            </a:r>
            <a:b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55D89B-124F-4845-E705-F44BC7BF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Actual = Allocated % by Business Unit – Building F</a:t>
            </a:r>
            <a:endParaRPr lang="en-US" kern="1400" spc="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F81EE-0C21-21CA-48AA-B9ADA59B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299" y="1422875"/>
            <a:ext cx="4947073" cy="46562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244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5B62-FA21-106C-E30C-AFC485DB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BCE9-3AA8-3ECA-F8BD-2F67ADCFA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204" y="1162050"/>
            <a:ext cx="8156836" cy="5429249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Findings: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HR leads the building at 98% alignment; Staff Groups and Engineering also perform strongly at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96%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92%,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respectively.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Retail's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32%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misalignment is the single largest contributor to Building F's vacancy anomaly.</a:t>
            </a: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Recommended Action: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Investigate Retail immediately — confirm whether misalignment reflects intentional project seating or temporary moves, or whether formal reallocation is required.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13A36C-115E-812C-E765-03108986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Building F — Key Findings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33024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F3ED-6D41-56B1-B819-B3A247F8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9B63-FB71-CCAA-BFEB-33722D06E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34" y="2636765"/>
            <a:ext cx="7503085" cy="1973335"/>
          </a:xfrm>
        </p:spPr>
        <p:txBody>
          <a:bodyPr>
            <a:normAutofit/>
          </a:bodyPr>
          <a:lstStyle/>
          <a:p>
            <a:r>
              <a:rPr lang="en-US" sz="2900" spc="150" dirty="0"/>
              <a:t>Retail has 260 employees but only 175 allocated seats — an 85-seat shortfall driving systemic overflow into adjacent org space.</a:t>
            </a:r>
          </a:p>
        </p:txBody>
      </p:sp>
    </p:spTree>
    <p:extLst>
      <p:ext uri="{BB962C8B-B14F-4D97-AF65-F5344CB8AC3E}">
        <p14:creationId xmlns:p14="http://schemas.microsoft.com/office/powerpoint/2010/main" val="158167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24FD-295C-0F8B-BEB2-F72A2BEC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3FEA-7366-82B0-A51F-494E0B144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93" y="1230672"/>
            <a:ext cx="3786276" cy="50406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Both floors reveal a consistent pattern: actual employee counts significantly outpace allocated spaces.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1 is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72%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aligned with an office-heavy mix and limited flex capacity.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2 fares worse at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65%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alignment, with more flex seats but the majority of overflow spilling into other organizations' space.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root cause is structural — Retail simply does not have enough allocated seats on either floor to accommodate its current headcount.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5AD8F9-1CEE-B7CE-5E31-62D4617B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00" dirty="0"/>
              <a:t>Retail — Actual Employees vs. Allocated Spaces by Floor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F7744-708D-3292-6FB7-85EDA3FC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67" y="1478322"/>
            <a:ext cx="4656040" cy="49209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961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33CB-91FB-66C1-5825-5C0BF594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B1E9-80D9-09FC-616B-BE87F8A32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204" y="1000126"/>
            <a:ext cx="8156836" cy="55911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Findings: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overall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67%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aligned — 85-seat shortfall with 260 employees and only 175 seats.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1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 </a:t>
            </a:r>
            <a:r>
              <a:rPr lang="en-US" sz="1800" u="sng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72%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aligned, office-heavy layout with limited flex capacity for overflow.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2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 </a:t>
            </a:r>
            <a:r>
              <a:rPr lang="en-US" sz="1800" u="sng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65%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aligned — more flex seats, but most overflow bleeds into other orgs' allocated space.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 cause: neither floor has sufficient Retail-dedicated allocations to cover actual headcount.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Recommended Action: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Consolidate Retail footprint, reallocate surplus seats from under-utilized units such as Engineering, and add flexible seating on Floor 1. Monitor weekly alignment post-change.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8BE7D-BB43-6416-AD1D-C1989663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Retail — Insights &amp; Consolidation Plan</a:t>
            </a:r>
          </a:p>
        </p:txBody>
      </p:sp>
    </p:spTree>
    <p:extLst>
      <p:ext uri="{BB962C8B-B14F-4D97-AF65-F5344CB8AC3E}">
        <p14:creationId xmlns:p14="http://schemas.microsoft.com/office/powerpoint/2010/main" val="233485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39DD-1B32-7A6A-DC60-2A57C30A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14CC2-9F05-AB75-A23A-AB77BBF9F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92" y="1358041"/>
            <a:ext cx="3941257" cy="504063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1 shows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38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occupied out of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53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total workstations (~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72%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occupancy), leaving 15 vacant desks available for reallocation.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 is the largest underutilize with only 1 occupied desk against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13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vacant — presenting the single biggest reallocation opportunity on this floor.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Travel, Technologies, and Staff Groups are fully utilized with zero vacant capacity, indicating no room for absorption without structural change.</a:t>
            </a: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98208A-A378-4642-D54A-C197C952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Floor 1 — Highlighted Floorplan with Leaders Legend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9B392-2260-771C-C3E2-1E37FE00F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29"/>
          <a:stretch>
            <a:fillRect/>
          </a:stretch>
        </p:blipFill>
        <p:spPr>
          <a:xfrm>
            <a:off x="4953000" y="1358041"/>
            <a:ext cx="4857750" cy="47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1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92D7-8775-AB72-E185-5EA4B0AC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1459-9D42-D825-6216-10FDAE30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34" y="2636765"/>
            <a:ext cx="7503085" cy="1973335"/>
          </a:xfrm>
        </p:spPr>
        <p:txBody>
          <a:bodyPr>
            <a:normAutofit fontScale="90000"/>
          </a:bodyPr>
          <a:lstStyle/>
          <a:p>
            <a:r>
              <a:rPr lang="en-US" spc="150" dirty="0"/>
              <a:t>Floor 1 — Leaders Legend &amp; Workstation Occupancy</a:t>
            </a:r>
            <a:br>
              <a:rPr lang="en-US" spc="150" dirty="0"/>
            </a:br>
            <a:r>
              <a:rPr lang="en-US" spc="150" dirty="0"/>
              <a:t>38 occupied of 53 total workstations — 15 vacant desks remain</a:t>
            </a:r>
          </a:p>
        </p:txBody>
      </p:sp>
    </p:spTree>
    <p:extLst>
      <p:ext uri="{BB962C8B-B14F-4D97-AF65-F5344CB8AC3E}">
        <p14:creationId xmlns:p14="http://schemas.microsoft.com/office/powerpoint/2010/main" val="2196883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3D13-4C33-2803-CE4D-915E4539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810F-144D-D26C-7BDF-7FF428E24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204" y="1000126"/>
            <a:ext cx="8156836" cy="5591174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Investigate Retail Misalignment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 the 32% seat misalignment in Retail — determine if project-based seating or temporary moves are the root cause and formalize reallocation if needed.</a:t>
            </a:r>
          </a:p>
          <a:p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Reallocate Engineering Surplus on Floor 1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13 vacant desks and only 1 occupied, Engineering holds the largest unrealized capacity on Floor 1. Redirect these seats to Retail or other capacity-constrained teams.</a:t>
            </a:r>
          </a:p>
          <a:p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Add Flex Seating on Floor 1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Supplement permanent allocations with touchdown and project/team room seats on Floor 1 to absorb overflow and improve the 72% alignment score. Monitor weekly.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B39CA9-532D-4748-1494-DEEB56F2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Action Plan — Building F Space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159988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1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4F77912F-785B-4553-A7A9-4B089D7E95DC}"/>
    </a:ext>
  </a:extLst>
</a:theme>
</file>

<file path=ppt/theme/theme2.xml><?xml version="1.0" encoding="utf-8"?>
<a:theme xmlns:a="http://schemas.openxmlformats.org/drawingml/2006/main" name="Custom Design">
  <a:themeElements>
    <a:clrScheme name="Custom 4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216DAB90-81E8-4CAE-80F6-76D5C56DDB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474C0DDFCB744F82F415B088B01E4B" ma:contentTypeVersion="14" ma:contentTypeDescription="Create a new document." ma:contentTypeScope="" ma:versionID="e5e9462897096f16b0008292cbb975dd">
  <xsd:schema xmlns:xsd="http://www.w3.org/2001/XMLSchema" xmlns:xs="http://www.w3.org/2001/XMLSchema" xmlns:p="http://schemas.microsoft.com/office/2006/metadata/properties" xmlns:ns3="1c75bd5f-743b-40f2-bae2-8e86a640c5ff" xmlns:ns4="153ae615-e700-431c-905c-1e4cee6d6937" targetNamespace="http://schemas.microsoft.com/office/2006/metadata/properties" ma:root="true" ma:fieldsID="590d4ed62c67927dcdef9f8de5167c65" ns3:_="" ns4:_="">
    <xsd:import namespace="1c75bd5f-743b-40f2-bae2-8e86a640c5ff"/>
    <xsd:import namespace="153ae615-e700-431c-905c-1e4cee6d693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5bd5f-743b-40f2-bae2-8e86a640c5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ae615-e700-431c-905c-1e4cee6d69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8D8A7F-A9E3-46B6-AF87-01F7F1B980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75bd5f-743b-40f2-bae2-8e86a640c5ff"/>
    <ds:schemaRef ds:uri="153ae615-e700-431c-905c-1e4cee6d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4F0347-749B-4FE7-BD83-FBDC671D74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5D76EC-F2F5-48B8-95DA-EF0FB4B2183F}">
  <ds:schemaRefs>
    <ds:schemaRef ds:uri="http://purl.org/dc/elements/1.1/"/>
    <ds:schemaRef ds:uri="http://schemas.microsoft.com/office/2006/metadata/properties"/>
    <ds:schemaRef ds:uri="1c75bd5f-743b-40f2-bae2-8e86a640c5ff"/>
    <ds:schemaRef ds:uri="http://purl.org/dc/terms/"/>
    <ds:schemaRef ds:uri="153ae615-e700-431c-905c-1e4cee6d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</TotalTime>
  <Words>705</Words>
  <Application>Microsoft Office PowerPoint</Application>
  <PresentationFormat>A4 Paper (210x297 mm)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 Light</vt:lpstr>
      <vt:lpstr>Roboto</vt:lpstr>
      <vt:lpstr>Wingdings</vt:lpstr>
      <vt:lpstr>Calibri</vt:lpstr>
      <vt:lpstr>Roboto Medium</vt:lpstr>
      <vt:lpstr>Arial</vt:lpstr>
      <vt:lpstr>1_Office Theme</vt:lpstr>
      <vt:lpstr>Custom Design</vt:lpstr>
      <vt:lpstr>Portfolio &amp; Building Analytics</vt:lpstr>
      <vt:lpstr>PowerPoint Presentation</vt:lpstr>
      <vt:lpstr>Americas Portfolio — Building-Level Occupancy</vt:lpstr>
      <vt:lpstr> Building F vacancy rate — nearly 4x  the Americas portfolio average of ~5%</vt:lpstr>
      <vt:lpstr>Actual = Allocated % by Business Unit – Building F</vt:lpstr>
      <vt:lpstr>Building F — Key Findings &amp; Next Steps</vt:lpstr>
      <vt:lpstr>Retail has 260 employees but only 175 allocated seats — an 85-seat shortfall driving systemic overflow into adjacent org space.</vt:lpstr>
      <vt:lpstr>Retail — Actual Employees vs. Allocated Spaces by Floor</vt:lpstr>
      <vt:lpstr>Retail — Insights &amp; Consolidation Plan</vt:lpstr>
      <vt:lpstr>Floor 1 — Highlighted Floorplan with Leaders Legend</vt:lpstr>
      <vt:lpstr>Floor 1 — Leaders Legend &amp; Workstation Occupancy 38 occupied of 53 total workstations — 15 vacant desks remain</vt:lpstr>
      <vt:lpstr>Action Plan — Building F Space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CWP Template Guide</dc:title>
  <dc:creator>Chloe Benfell</dc:creator>
  <cp:lastModifiedBy>Maulik Paghdal</cp:lastModifiedBy>
  <cp:revision>84</cp:revision>
  <cp:lastPrinted>2016-10-20T13:15:12Z</cp:lastPrinted>
  <dcterms:created xsi:type="dcterms:W3CDTF">2019-01-31T13:36:26Z</dcterms:created>
  <dcterms:modified xsi:type="dcterms:W3CDTF">2026-07-28T07:40:35Z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0x01010028474C0DDFCB744F82F415B088B01E4B</vt:lpwstr>
  </property>
  <property fmtid="{D5CDD505-2E9C-101B-9397-08002B2CF9AE}" pid="3" name="_dlc_DocIdItemGuid">
    <vt:lpwstr>f10d3643-9e5a-465d-a6d6-926476caee6d</vt:lpwstr>
  </property>
</Properties>
</file>