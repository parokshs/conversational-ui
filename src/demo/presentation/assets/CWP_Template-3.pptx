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4"/>
    <p:sldMasterId id="2147483703" r:id="rId5"/>
  </p:sldMasterIdLst>
  <p:notesMasterIdLst>
    <p:notesMasterId r:id="rId12"/>
  </p:notesMasterIdLst>
  <p:handoutMasterIdLst>
    <p:handoutMasterId r:id="rId13"/>
  </p:handoutMasterIdLst>
  <p:sldIdLst>
    <p:sldId id="361" r:id="rId6"/>
    <p:sldId id="432" r:id="rId7"/>
    <p:sldId id="434" r:id="rId8"/>
    <p:sldId id="438" r:id="rId9"/>
    <p:sldId id="441" r:id="rId10"/>
    <p:sldId id="443" r:id="rId11"/>
  </p:sldIdLst>
  <p:sldSz cx="9906000" cy="6858000" type="A4"/>
  <p:notesSz cx="6797675" cy="9926638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Light" panose="02000000000000000000" pitchFamily="2" charset="0"/>
      <p:regular r:id="rId18"/>
      <p:italic r:id="rId19"/>
    </p:embeddedFont>
    <p:embeddedFont>
      <p:font typeface="Roboto Medium" panose="02000000000000000000" pitchFamily="2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oghan McHugh" initials="EM" lastIdx="1" clrIdx="0">
    <p:extLst>
      <p:ext uri="{19B8F6BF-5375-455C-9EA6-DF929625EA0E}">
        <p15:presenceInfo xmlns:p15="http://schemas.microsoft.com/office/powerpoint/2012/main" userId="S-1-5-21-784345893-1380450881-7473742-7158" providerId="AD"/>
      </p:ext>
    </p:extLst>
  </p:cmAuthor>
  <p:cmAuthor id="2" name="Chloe Benfell" initials="CB" lastIdx="1" clrIdx="1">
    <p:extLst>
      <p:ext uri="{19B8F6BF-5375-455C-9EA6-DF929625EA0E}">
        <p15:presenceInfo xmlns:p15="http://schemas.microsoft.com/office/powerpoint/2012/main" userId="S-1-5-21-784345893-1380450881-7473742-71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7D2"/>
    <a:srgbClr val="06CE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1406" y="77"/>
      </p:cViewPr>
      <p:guideLst/>
    </p:cSldViewPr>
  </p:slideViewPr>
  <p:outlineViewPr>
    <p:cViewPr>
      <p:scale>
        <a:sx n="33" d="100"/>
        <a:sy n="33" d="100"/>
      </p:scale>
      <p:origin x="0" y="-203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1.fntdata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635DC-7C77-4EDC-877E-93E281EA2302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DB527-A84F-4511-8370-005F41A960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1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7EAFC-5287-4976-8725-CD476620A400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AFB08-199B-4F6F-99BE-170171BD94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00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alphaModFix amt="0"/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30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BBD915-3381-4B77-806E-44C758A1CEA5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50528F-06C8-4E6F-B3DB-94D11399E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6662" y="-2407407"/>
            <a:ext cx="9050813" cy="100769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4038089"/>
            <a:ext cx="8420100" cy="1328455"/>
          </a:xfrm>
        </p:spPr>
        <p:txBody>
          <a:bodyPr anchor="ctr" anchorCtr="0">
            <a:normAutofit/>
          </a:bodyPr>
          <a:lstStyle>
            <a:lvl1pPr algn="ctr">
              <a:defRPr sz="4200" b="1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Document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38250" y="5458620"/>
            <a:ext cx="7429500" cy="366712"/>
          </a:xfrm>
        </p:spPr>
        <p:txBody>
          <a:bodyPr>
            <a:no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DOCUMENT SUB-TITLE (ALL CAPS)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91CC22B-4DD7-49EA-A15D-B181FCDA0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1795" y="1563289"/>
            <a:ext cx="2802412" cy="121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3766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blipFill dpi="0" rotWithShape="1">
          <a:blip>
            <a:alphaModFix amt="0"/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30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D6DD8C-F1DA-4F04-901D-56E376CF8B67}"/>
              </a:ext>
            </a:extLst>
          </p:cNvPr>
          <p:cNvSpPr/>
          <p:nvPr userDrawn="1"/>
        </p:nvSpPr>
        <p:spPr>
          <a:xfrm>
            <a:off x="0" y="5455664"/>
            <a:ext cx="9906000" cy="1402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ln>
                  <a:noFill/>
                </a:ln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BD915-3381-4B77-806E-44C758A1CEA5}"/>
              </a:ext>
            </a:extLst>
          </p:cNvPr>
          <p:cNvSpPr/>
          <p:nvPr userDrawn="1"/>
        </p:nvSpPr>
        <p:spPr>
          <a:xfrm>
            <a:off x="0" y="0"/>
            <a:ext cx="9906000" cy="54556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950528F-06C8-4E6F-B3DB-94D11399E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8546" y="-1941827"/>
            <a:ext cx="9050813" cy="10076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CA92CE-1AE8-4F99-8B2B-ECE4D497ACD5}"/>
              </a:ext>
            </a:extLst>
          </p:cNvPr>
          <p:cNvSpPr txBox="1"/>
          <p:nvPr userDrawn="1"/>
        </p:nvSpPr>
        <p:spPr>
          <a:xfrm>
            <a:off x="4303059" y="5833667"/>
            <a:ext cx="5271247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400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The Changing Workplace Ltd, 1 Boltro Road, Haywards Heath, West Sussex, RH16 1BY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3E333-889F-431B-B545-5902EE0B5160}"/>
              </a:ext>
            </a:extLst>
          </p:cNvPr>
          <p:cNvSpPr txBox="1"/>
          <p:nvPr userDrawn="1"/>
        </p:nvSpPr>
        <p:spPr>
          <a:xfrm>
            <a:off x="5409560" y="6071907"/>
            <a:ext cx="416474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400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(+44) 1444 441 000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C55AC-0AD2-45C8-95F5-5FD47C789749}"/>
              </a:ext>
            </a:extLst>
          </p:cNvPr>
          <p:cNvSpPr txBox="1"/>
          <p:nvPr userDrawn="1"/>
        </p:nvSpPr>
        <p:spPr>
          <a:xfrm>
            <a:off x="5409560" y="6320477"/>
            <a:ext cx="4164746" cy="235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GB" sz="1400" b="1" i="0" u="none" strike="noStrike" kern="1200" baseline="300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www.changingworkplace.com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11F8C8-1386-4445-BD22-194CFFECB03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51" y="5833667"/>
            <a:ext cx="1563813" cy="67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3070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C9E7CE-A078-46E5-8D29-FCBB6DDA6B52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5879" y="2065811"/>
            <a:ext cx="8543925" cy="1125857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Section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75879" y="3279027"/>
            <a:ext cx="8543925" cy="1439816"/>
          </a:xfrm>
        </p:spPr>
        <p:txBody>
          <a:bodyPr>
            <a:normAutofit/>
          </a:bodyPr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SUB-HEADING (ALL CAPS)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7450598-144D-485E-9A3B-A60F1BDD3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3543" y="-1306634"/>
            <a:ext cx="9050813" cy="1007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3860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Numbers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>
            <a:spLocks noGrp="1"/>
          </p:cNvSpPr>
          <p:nvPr>
            <p:ph sz="half" idx="1"/>
          </p:nvPr>
        </p:nvSpPr>
        <p:spPr>
          <a:xfrm>
            <a:off x="624840" y="1270000"/>
            <a:ext cx="8656319" cy="5040630"/>
          </a:xfrm>
        </p:spPr>
        <p:txBody>
          <a:bodyPr anchor="t" anchorCtr="0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650132" indent="-278627">
              <a:buClr>
                <a:schemeClr val="tx1"/>
              </a:buClr>
              <a:buFont typeface="+mj-lt"/>
              <a:buAutoNum type="arabicPeriod"/>
              <a:defRPr sz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021633" indent="-278627">
              <a:buClr>
                <a:schemeClr val="tx1"/>
              </a:buClr>
              <a:buFont typeface="+mj-lt"/>
              <a:buAutoNum type="arabicPeriod"/>
              <a:defRPr sz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393136" indent="-278627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764638" indent="-278627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6728FD4-BEE1-4EDE-BE82-DEE658D77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9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4" orient="horz" pos="2500">
          <p15:clr>
            <a:srgbClr val="FBAE40"/>
          </p15:clr>
        </p15:guide>
        <p15:guide id="10" orient="horz" pos="4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Bullets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8656319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41CADAC-BB31-44D9-B3EB-F59AD4A7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21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- Bullets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865631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>
              <a:spcBef>
                <a:spcPts val="1200"/>
              </a:spcBef>
              <a:defRPr sz="1400"/>
            </a:lvl1pPr>
            <a:lvl2pPr marL="685800" indent="-228600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EFD6DF6-CF6B-4FFC-A942-7E21A4323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45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3964093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0"/>
          </p:nvPr>
        </p:nvSpPr>
        <p:spPr>
          <a:xfrm>
            <a:off x="5317067" y="1270000"/>
            <a:ext cx="3964094" cy="5040630"/>
          </a:xfrm>
          <a:prstGeom prst="rect">
            <a:avLst/>
          </a:prstGeom>
        </p:spPr>
        <p:txBody>
          <a:bodyPr vert="horz" lIns="91440" tIns="360000" rIns="91440" bIns="360000" rtlCol="0" anchor="t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003BD65-CAC0-450F-92A8-F7B7B30A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13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4953004" y="1270000"/>
            <a:ext cx="4952996" cy="5588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361949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457200" indent="-457200">
              <a:buClr>
                <a:schemeClr val="tx1"/>
              </a:buClr>
              <a:buFont typeface="+mj-lt"/>
              <a:buAutoNum type="arabicPeriod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800100" indent="-342900">
              <a:buClr>
                <a:schemeClr val="tx1"/>
              </a:buClr>
              <a:buFont typeface="+mj-lt"/>
              <a:buAutoNum type="alphaLcPeriod"/>
              <a:defRPr sz="1200"/>
            </a:lvl2pPr>
            <a:lvl3pPr marL="1257300" indent="-342900">
              <a:buFont typeface="+mj-lt"/>
              <a:buAutoNum type="romanLcPeriod"/>
              <a:defRPr sz="1200"/>
            </a:lvl3pPr>
            <a:lvl4pPr marL="1714500" indent="-342900">
              <a:buFont typeface="+mj-lt"/>
              <a:buAutoNum type="romanLcPeriod"/>
              <a:defRPr sz="1100"/>
            </a:lvl4pPr>
            <a:lvl5pPr marL="2171700" indent="-342900">
              <a:buFont typeface="+mj-lt"/>
              <a:buAutoNum type="romanLcPeriod"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D42D41B-26F6-44E4-9928-87DC1275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18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4953004" y="1270000"/>
            <a:ext cx="4952996" cy="558800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361949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0" indent="0">
              <a:spcBef>
                <a:spcPts val="1800"/>
              </a:spcBef>
              <a:buNone/>
              <a:defRPr sz="1400" b="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800100" indent="-342900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2pPr>
            <a:lvl3pPr marL="1257300" indent="-342900">
              <a:spcBef>
                <a:spcPts val="0"/>
              </a:spcBef>
              <a:buFont typeface="Roboto Light" panose="02000000000000000000" pitchFamily="2" charset="0"/>
              <a:buChar char="-"/>
              <a:defRPr sz="1200">
                <a:latin typeface="+mn-lt"/>
              </a:defRPr>
            </a:lvl3pPr>
            <a:lvl4pPr marL="1657350" indent="-285750">
              <a:spcBef>
                <a:spcPts val="0"/>
              </a:spcBef>
              <a:buFont typeface="Roboto Light" panose="02000000000000000000" pitchFamily="2" charset="0"/>
              <a:buChar char="-"/>
              <a:defRPr sz="1200">
                <a:latin typeface="+mn-lt"/>
              </a:defRPr>
            </a:lvl4pPr>
            <a:lvl5pPr marL="2114550" indent="-285750">
              <a:spcBef>
                <a:spcPts val="0"/>
              </a:spcBef>
              <a:buFont typeface="Roboto Light" panose="02000000000000000000" pitchFamily="2" charset="0"/>
              <a:buChar char="-"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9863A12-A66A-429E-8F66-C5A5F81F1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82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&amp;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5664200" y="1989668"/>
            <a:ext cx="3616960" cy="3615266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4841" y="1270000"/>
            <a:ext cx="4328159" cy="5040630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400"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98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>
          <p15:clr>
            <a:srgbClr val="FBAE40"/>
          </p15:clr>
        </p15:guide>
        <p15:guide id="5" pos="3120">
          <p15:clr>
            <a:srgbClr val="FBAE40"/>
          </p15:clr>
        </p15:guide>
        <p15:guide id="8" pos="177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70E0BF9-227B-47F7-8952-2C8388D471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203" y="1152605"/>
            <a:ext cx="8656319" cy="506377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sz="16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GB"/>
              <a:t>Heading </a:t>
            </a:r>
            <a:r>
              <a:rPr lang="en-GB" err="1"/>
              <a:t>afas</a:t>
            </a:r>
            <a:r>
              <a:rPr lang="en-GB"/>
              <a:t>  gas </a:t>
            </a:r>
            <a:r>
              <a:rPr lang="en-GB" err="1"/>
              <a:t>ahHeading</a:t>
            </a:r>
            <a:r>
              <a:rPr lang="en-GB"/>
              <a:t> </a:t>
            </a:r>
            <a:r>
              <a:rPr lang="en-GB" err="1"/>
              <a:t>afas</a:t>
            </a:r>
            <a:r>
              <a:rPr lang="en-GB"/>
              <a:t>  gas ah</a:t>
            </a:r>
          </a:p>
        </p:txBody>
      </p:sp>
    </p:spTree>
    <p:extLst>
      <p:ext uri="{BB962C8B-B14F-4D97-AF65-F5344CB8AC3E}">
        <p14:creationId xmlns:p14="http://schemas.microsoft.com/office/powerpoint/2010/main" val="344232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>
          <p15:clr>
            <a:srgbClr val="FBAE40"/>
          </p15:clr>
        </p15:guide>
        <p15:guide id="5" pos="3120">
          <p15:clr>
            <a:srgbClr val="FBAE40"/>
          </p15:clr>
        </p15:guide>
        <p15:guide id="8" pos="177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810FA5B-E9A9-4C14-8618-9919211EF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60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500">
          <p15:clr>
            <a:srgbClr val="FBAE40"/>
          </p15:clr>
        </p15:guide>
        <p15:guide id="5" pos="3120">
          <p15:clr>
            <a:srgbClr val="FBAE40"/>
          </p15:clr>
        </p15:guide>
        <p15:guide id="8" pos="177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127"/>
            <a:ext cx="8686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8686800" cy="4305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00F2B-F467-4C29-9963-7410829293A6}" type="datetime1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4B3B4-4093-4FBB-A391-3009E9C94F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0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18" r:id="rId2"/>
    <p:sldLayoutId id="214748368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BA4FFF-F8DA-4A29-9B65-F1746317D796}"/>
              </a:ext>
            </a:extLst>
          </p:cNvPr>
          <p:cNvSpPr/>
          <p:nvPr userDrawn="1"/>
        </p:nvSpPr>
        <p:spPr>
          <a:xfrm>
            <a:off x="0" y="0"/>
            <a:ext cx="9906000" cy="937697"/>
          </a:xfrm>
          <a:prstGeom prst="rect">
            <a:avLst/>
          </a:prstGeom>
          <a:solidFill>
            <a:srgbClr val="1767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6204" y="191149"/>
            <a:ext cx="8656319" cy="65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41" y="1270000"/>
            <a:ext cx="8656319" cy="5040630"/>
          </a:xfrm>
          <a:prstGeom prst="rect">
            <a:avLst/>
          </a:prstGeom>
        </p:spPr>
        <p:txBody>
          <a:bodyPr vert="horz" lIns="91440" tIns="360000" rIns="91440" bIns="36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1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F80DDAC-FE11-49DC-9261-11C1E994665B}" type="datetimeFigureOut">
              <a:rPr lang="en-GB" smtClean="0"/>
              <a:pPr/>
              <a:t>28/07/2026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9916" y="6310630"/>
            <a:ext cx="2341244" cy="5473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A73CC0E-67D5-43FD-BD59-BE5F44570CB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607E8-3AD8-4761-A539-4C500EF2C84D}"/>
              </a:ext>
            </a:extLst>
          </p:cNvPr>
          <p:cNvSpPr/>
          <p:nvPr userDrawn="1"/>
        </p:nvSpPr>
        <p:spPr>
          <a:xfrm>
            <a:off x="82510" y="376501"/>
            <a:ext cx="9906000" cy="937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C959611-4FE0-4C4B-AC53-40A2E2FC9F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9258" y="-559124"/>
            <a:ext cx="2688790" cy="299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7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4" r:id="rId3"/>
    <p:sldLayoutId id="2147483715" r:id="rId4"/>
    <p:sldLayoutId id="2147483709" r:id="rId5"/>
    <p:sldLayoutId id="2147483708" r:id="rId6"/>
    <p:sldLayoutId id="2147483712" r:id="rId7"/>
    <p:sldLayoutId id="2147483716" r:id="rId8"/>
    <p:sldLayoutId id="214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" panose="05000000000000000000" pitchFamily="2" charset="2"/>
        <a:buChar char="§"/>
        <a:defRPr sz="1400" b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2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Roboto Light" panose="02000000000000000000" pitchFamily="2" charset="0"/>
        <a:buChar char="-"/>
        <a:defRPr sz="11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3" orient="horz" pos="3748" userDrawn="1">
          <p15:clr>
            <a:srgbClr val="F26B43"/>
          </p15:clr>
        </p15:guide>
        <p15:guide id="4" pos="3120" userDrawn="1">
          <p15:clr>
            <a:srgbClr val="F26B43"/>
          </p15:clr>
        </p15:guide>
        <p15:guide id="5" pos="466" userDrawn="1">
          <p15:clr>
            <a:srgbClr val="F26B43"/>
          </p15:clr>
        </p15:guide>
        <p15:guide id="10" pos="57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130165"/>
            <a:ext cx="8420100" cy="1328455"/>
          </a:xfrm>
        </p:spPr>
        <p:txBody>
          <a:bodyPr>
            <a:normAutofit/>
          </a:bodyPr>
          <a:lstStyle/>
          <a:p>
            <a:pPr algn="l"/>
            <a:r>
              <a:rPr lang="en-US" sz="4400" kern="0" spc="-94" dirty="0">
                <a:latin typeface="Arial" pitchFamily="34" charset="0"/>
                <a:ea typeface="Arial" pitchFamily="34" charset="-122"/>
                <a:cs typeface="Arial" pitchFamily="34" charset="-120"/>
              </a:rPr>
              <a:t>Portfolio &amp; Building Analytics</a:t>
            </a:r>
            <a:endParaRPr lang="en-US" sz="44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kern="0" spc="-94" dirty="0">
                <a:latin typeface="Arial" pitchFamily="34" charset="0"/>
                <a:ea typeface="Arial" pitchFamily="34" charset="-122"/>
                <a:cs typeface="Arial" pitchFamily="34" charset="-120"/>
              </a:rPr>
              <a:t>Americas Real Estate Insights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040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3DFF-F363-798A-E6FA-6D522062A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37" y="1708922"/>
            <a:ext cx="4074607" cy="402328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Analyzed 10 buildings across the Americas region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Building F is a clear outlier at 24% vacancy - well above portfolio average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Remaining buildings (E, H, C, B, etc.) mostly below 10% vacancy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Indicates strong space utilization across the region, aside from Building F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7FB41C-C19D-1AAB-E6F7-39A65C3E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00" dirty="0"/>
              <a:t>Vacancy Analysis Across Americas Portfolio</a:t>
            </a:r>
            <a:endParaRPr lang="en-US" spc="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B32CF-9704-7512-908D-082698FD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81" y="1272168"/>
            <a:ext cx="4698955" cy="47260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400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1259-5130-AB37-9F08-E6382A55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2478C-BEF6-73CC-C164-5B6E7ED9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398" y="1440082"/>
            <a:ext cx="4261421" cy="27063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Human Resources leads with 98% alignment — best in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Engineering, Finance, Staff Groups, Operations all Healthy/Excellent (89–96%)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 is a clear outlier at 68% alignment (32% misallocated) — nearly 3x the building average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55D89B-124F-4845-E705-F44BC7BF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Actual vs. Allocated Space Alignment – Building F</a:t>
            </a:r>
            <a:endParaRPr lang="en-US" kern="1400" spc="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F81EE-0C21-21CA-48AA-B9ADA59B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950" y="1422876"/>
            <a:ext cx="4484494" cy="42208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FF8A76-5998-AB9D-227B-A0C933D2DED5}"/>
              </a:ext>
            </a:extLst>
          </p:cNvPr>
          <p:cNvSpPr txBox="1">
            <a:spLocks/>
          </p:cNvSpPr>
          <p:nvPr/>
        </p:nvSpPr>
        <p:spPr>
          <a:xfrm>
            <a:off x="662942" y="4146411"/>
            <a:ext cx="4261421" cy="1596102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 b="0" kern="120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Recommendation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Investigate Retail's space misalignment — confirm if intentional (project seating, temp moves) or needs reallocation</a:t>
            </a:r>
          </a:p>
        </p:txBody>
      </p:sp>
    </p:spTree>
    <p:extLst>
      <p:ext uri="{BB962C8B-B14F-4D97-AF65-F5344CB8AC3E}">
        <p14:creationId xmlns:p14="http://schemas.microsoft.com/office/powerpoint/2010/main" val="66244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24FD-295C-0F8B-BEB2-F72A2BEC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5AD8F9-1CEE-B7CE-5E31-62D4617B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200" dirty="0"/>
              <a:t>Retail Workspace Allocation by Floor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F7744-708D-3292-6FB7-85EDA3FC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639" y="1478322"/>
            <a:ext cx="4426968" cy="4678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7F34A8-1176-3F01-4E4F-F3D3C293A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398" y="1440082"/>
            <a:ext cx="4261421" cy="27063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1: 72% aligned — office-heavy, low flex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Floor 2: 65% aligned — more flex seats, but overflow spills into other orgs'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 cause: insufficient Retail-allocated seats on either floor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AE0BB90-C764-FED9-4E5F-2F2D0F95D033}"/>
              </a:ext>
            </a:extLst>
          </p:cNvPr>
          <p:cNvSpPr txBox="1">
            <a:spLocks/>
          </p:cNvSpPr>
          <p:nvPr/>
        </p:nvSpPr>
        <p:spPr>
          <a:xfrm>
            <a:off x="662942" y="4146411"/>
            <a:ext cx="4261421" cy="1596102"/>
          </a:xfrm>
          <a:prstGeom prst="rect">
            <a:avLst/>
          </a:prstGeom>
        </p:spPr>
        <p:txBody>
          <a:bodyPr vert="horz" lIns="91440" tIns="180000" rIns="91440" bIns="180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 b="0" kern="1200">
                <a:solidFill>
                  <a:schemeClr val="tx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Roboto Light" panose="02000000000000000000" pitchFamily="2" charset="0"/>
              <a:buChar char="-"/>
              <a:defRPr sz="120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Recommendation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Consolidate Retail, reallocate surplus from under-used orgs (e.g., Engineering), and add flex seating on Floor 1 — then monitor</a:t>
            </a:r>
          </a:p>
        </p:txBody>
      </p:sp>
    </p:spTree>
    <p:extLst>
      <p:ext uri="{BB962C8B-B14F-4D97-AF65-F5344CB8AC3E}">
        <p14:creationId xmlns:p14="http://schemas.microsoft.com/office/powerpoint/2010/main" val="81961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39DD-1B32-7A6A-DC60-2A57C30A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14CC2-9F05-AB75-A23A-AB77BBF9F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92" y="1358041"/>
            <a:ext cx="4493708" cy="504063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Overall occupancy: 38 of 53 workstations (~72%) — 15 vacant desks remain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Engineering is the biggest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underutilizer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only 1 occupied vs. 13 vacant — largest reallocation opportunity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Travel, Technologies, and Staff Groups are fully utilized (14, 9, 8 occupied, 0 vacant) — no spare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Retail and Utilities show minimal presence (0 occupied, 1 vacant each) — negligible footprint on this floor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98208A-A378-4642-D54A-C197C952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Floor 1 Seating Map — Occupancy by Business Unit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9B392-2260-771C-C3E2-1E37FE00F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29"/>
          <a:stretch>
            <a:fillRect/>
          </a:stretch>
        </p:blipFill>
        <p:spPr>
          <a:xfrm>
            <a:off x="4953000" y="1358041"/>
            <a:ext cx="4857750" cy="478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1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3D13-4C33-2803-CE4D-915E4539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810F-144D-D26C-7BDF-7FF428E24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204" y="1000126"/>
            <a:ext cx="8156836" cy="5591174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Investigate Retail Misalignment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 the 32% seat misalignment in Retail — determine if project-based seating or temporary moves are the root cause and formalize reallocation if needed.</a:t>
            </a:r>
          </a:p>
          <a:p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Reallocate Engineering Surplus on Floor 1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13 vacant desks and only 1 occupied, Engineering holds the largest unrealized capacity on Floor 1. Redirect these seats to Retail or other capacity-constrained teams.</a:t>
            </a:r>
          </a:p>
          <a:p>
            <a:endParaRPr lang="en-US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Add Flex Seating on Floor 1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Supplement permanent allocations with touchdown and project/team room seats on Floor 1 to absorb overflow and improve the 72% alignment score. Monitor weekly.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B39CA9-532D-4748-1494-DEEB56F2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1400" spc="200" dirty="0"/>
              <a:t>Action Plan — Building F Space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159988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1">
      <a:dk1>
        <a:srgbClr val="2B2B2B"/>
      </a:dk1>
      <a:lt1>
        <a:sysClr val="window" lastClr="FFFFFF"/>
      </a:lt1>
      <a:dk2>
        <a:srgbClr val="3F3F3F"/>
      </a:dk2>
      <a:lt2>
        <a:srgbClr val="F2F2F2"/>
      </a:lt2>
      <a:accent1>
        <a:srgbClr val="1767D2"/>
      </a:accent1>
      <a:accent2>
        <a:srgbClr val="FF9933"/>
      </a:accent2>
      <a:accent3>
        <a:srgbClr val="D43900"/>
      </a:accent3>
      <a:accent4>
        <a:srgbClr val="FFCC33"/>
      </a:accent4>
      <a:accent5>
        <a:srgbClr val="049A0D"/>
      </a:accent5>
      <a:accent6>
        <a:srgbClr val="9933CC"/>
      </a:accent6>
      <a:hlink>
        <a:srgbClr val="D43900"/>
      </a:hlink>
      <a:folHlink>
        <a:srgbClr val="3F3F3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P Presentation Template 2019 V2" id="{D0AFA5D4-1B40-4E28-A0B0-7514C8BD9573}" vid="{4F77912F-785B-4553-A7A9-4B089D7E95DC}"/>
    </a:ext>
  </a:extLst>
</a:theme>
</file>

<file path=ppt/theme/theme2.xml><?xml version="1.0" encoding="utf-8"?>
<a:theme xmlns:a="http://schemas.openxmlformats.org/drawingml/2006/main" name="Custom Design">
  <a:themeElements>
    <a:clrScheme name="Custom 4">
      <a:dk1>
        <a:srgbClr val="2B2B2B"/>
      </a:dk1>
      <a:lt1>
        <a:sysClr val="window" lastClr="FFFFFF"/>
      </a:lt1>
      <a:dk2>
        <a:srgbClr val="3F3F3F"/>
      </a:dk2>
      <a:lt2>
        <a:srgbClr val="F2F2F2"/>
      </a:lt2>
      <a:accent1>
        <a:srgbClr val="1767D2"/>
      </a:accent1>
      <a:accent2>
        <a:srgbClr val="FF9933"/>
      </a:accent2>
      <a:accent3>
        <a:srgbClr val="D43900"/>
      </a:accent3>
      <a:accent4>
        <a:srgbClr val="FFCC33"/>
      </a:accent4>
      <a:accent5>
        <a:srgbClr val="049A0D"/>
      </a:accent5>
      <a:accent6>
        <a:srgbClr val="9933CC"/>
      </a:accent6>
      <a:hlink>
        <a:srgbClr val="D43900"/>
      </a:hlink>
      <a:folHlink>
        <a:srgbClr val="3F3F3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WP Presentation Template 2019 V2" id="{D0AFA5D4-1B40-4E28-A0B0-7514C8BD9573}" vid="{216DAB90-81E8-4CAE-80F6-76D5C56DDBC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474C0DDFCB744F82F415B088B01E4B" ma:contentTypeVersion="14" ma:contentTypeDescription="Create a new document." ma:contentTypeScope="" ma:versionID="e5e9462897096f16b0008292cbb975dd">
  <xsd:schema xmlns:xsd="http://www.w3.org/2001/XMLSchema" xmlns:xs="http://www.w3.org/2001/XMLSchema" xmlns:p="http://schemas.microsoft.com/office/2006/metadata/properties" xmlns:ns3="1c75bd5f-743b-40f2-bae2-8e86a640c5ff" xmlns:ns4="153ae615-e700-431c-905c-1e4cee6d6937" targetNamespace="http://schemas.microsoft.com/office/2006/metadata/properties" ma:root="true" ma:fieldsID="590d4ed62c67927dcdef9f8de5167c65" ns3:_="" ns4:_="">
    <xsd:import namespace="1c75bd5f-743b-40f2-bae2-8e86a640c5ff"/>
    <xsd:import namespace="153ae615-e700-431c-905c-1e4cee6d693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75bd5f-743b-40f2-bae2-8e86a640c5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ae615-e700-431c-905c-1e4cee6d69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8D8A7F-A9E3-46B6-AF87-01F7F1B980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75bd5f-743b-40f2-bae2-8e86a640c5ff"/>
    <ds:schemaRef ds:uri="153ae615-e700-431c-905c-1e4cee6d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4F0347-749B-4FE7-BD83-FBDC671D74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5D76EC-F2F5-48B8-95DA-EF0FB4B2183F}">
  <ds:schemaRefs>
    <ds:schemaRef ds:uri="http://purl.org/dc/elements/1.1/"/>
    <ds:schemaRef ds:uri="http://schemas.microsoft.com/office/2006/metadata/properties"/>
    <ds:schemaRef ds:uri="1c75bd5f-743b-40f2-bae2-8e86a640c5ff"/>
    <ds:schemaRef ds:uri="http://purl.org/dc/terms/"/>
    <ds:schemaRef ds:uri="153ae615-e700-431c-905c-1e4cee6d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</TotalTime>
  <Words>409</Words>
  <Application>Microsoft Office PowerPoint</Application>
  <PresentationFormat>A4 Paper (210x297 mm)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Arial</vt:lpstr>
      <vt:lpstr>Roboto Light</vt:lpstr>
      <vt:lpstr>Roboto</vt:lpstr>
      <vt:lpstr>Wingdings</vt:lpstr>
      <vt:lpstr>Roboto Medium</vt:lpstr>
      <vt:lpstr>1_Office Theme</vt:lpstr>
      <vt:lpstr>Custom Design</vt:lpstr>
      <vt:lpstr>Portfolio &amp; Building Analytics</vt:lpstr>
      <vt:lpstr>Vacancy Analysis Across Americas Portfolio</vt:lpstr>
      <vt:lpstr>Actual vs. Allocated Space Alignment – Building F</vt:lpstr>
      <vt:lpstr>Retail Workspace Allocation by Floor</vt:lpstr>
      <vt:lpstr>Floor 1 Seating Map — Occupancy by Business Unit</vt:lpstr>
      <vt:lpstr>Action Plan — Building F Space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CWP Template Guide</dc:title>
  <dc:creator>Chloe Benfell</dc:creator>
  <cp:lastModifiedBy>Maulik Paghdal</cp:lastModifiedBy>
  <cp:revision>97</cp:revision>
  <cp:lastPrinted>2016-10-20T13:15:12Z</cp:lastPrinted>
  <dcterms:created xsi:type="dcterms:W3CDTF">2019-01-31T13:36:26Z</dcterms:created>
  <dcterms:modified xsi:type="dcterms:W3CDTF">2026-07-28T15:19:24Z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0x01010028474C0DDFCB744F82F415B088B01E4B</vt:lpwstr>
  </property>
  <property fmtid="{D5CDD505-2E9C-101B-9397-08002B2CF9AE}" pid="3" name="_dlc_DocIdItemGuid">
    <vt:lpwstr>f10d3643-9e5a-465d-a6d6-926476caee6d</vt:lpwstr>
  </property>
</Properties>
</file>